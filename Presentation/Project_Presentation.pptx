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9144000"/>
  <p:embeddedFontLst>
    <p:embeddedFont>
      <p:font typeface="Lato" panose="020F0502020204030203" pitchFamily="34" charset="0"/>
      <p:regular r:id="rId21"/>
      <p:bold r:id="rId22"/>
      <p:italic r:id="rId23"/>
      <p:boldItalic r:id="rId24"/>
    </p:embeddedFont>
    <p:embeddedFont>
      <p:font typeface="Poppins" panose="00000500000000000000" pitchFamily="2" charset="0"/>
      <p:regular r:id="rId25"/>
      <p:bold r:id="rId26"/>
      <p:italic r:id="rId27"/>
      <p:boldItalic r:id="rId28"/>
    </p:embeddedFont>
    <p:embeddedFont>
      <p:font typeface="Poppins Medium" panose="00000600000000000000" pitchFamily="2" charset="0"/>
      <p:regular r:id="rId29"/>
      <p:bold r:id="rId30"/>
      <p:italic r:id="rId31"/>
      <p:boldItalic r:id="rId32"/>
    </p:embeddedFont>
    <p:embeddedFont>
      <p:font typeface="Poppins SemiBold" panose="00000700000000000000" pitchFamily="2" charset="0"/>
      <p:regular r:id="rId33"/>
      <p:bold r:id="rId34"/>
      <p:italic r:id="rId35"/>
      <p:boldItalic r:id="rId3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2" d="100"/>
          <a:sy n="92" d="100"/>
        </p:scale>
        <p:origin x="307" y="8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6.fntdata"/><Relationship Id="rId39" Type="http://schemas.openxmlformats.org/officeDocument/2006/relationships/theme" Target="theme/theme1.xml"/><Relationship Id="rId21" Type="http://schemas.openxmlformats.org/officeDocument/2006/relationships/font" Target="fonts/font1.fntdata"/><Relationship Id="rId34" Type="http://schemas.openxmlformats.org/officeDocument/2006/relationships/font" Target="fonts/font14.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5.fntdata"/><Relationship Id="rId33" Type="http://schemas.openxmlformats.org/officeDocument/2006/relationships/font" Target="fonts/font13.fntdata"/><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29" Type="http://schemas.openxmlformats.org/officeDocument/2006/relationships/font" Target="fonts/font9.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4.fntdata"/><Relationship Id="rId32" Type="http://schemas.openxmlformats.org/officeDocument/2006/relationships/font" Target="fonts/font12.fntdata"/><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3.fntdata"/><Relationship Id="rId28" Type="http://schemas.openxmlformats.org/officeDocument/2006/relationships/font" Target="fonts/font8.fntdata"/><Relationship Id="rId36" Type="http://schemas.openxmlformats.org/officeDocument/2006/relationships/font" Target="fonts/font16.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2.fntdata"/><Relationship Id="rId27" Type="http://schemas.openxmlformats.org/officeDocument/2006/relationships/font" Target="fonts/font7.fntdata"/><Relationship Id="rId30" Type="http://schemas.openxmlformats.org/officeDocument/2006/relationships/font" Target="fonts/font10.fntdata"/><Relationship Id="rId35" Type="http://schemas.openxmlformats.org/officeDocument/2006/relationships/font" Target="fonts/font15.fntdata"/><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0" name="Google Shape;90;p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9" name="Google Shape;99;p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8" name="Google Shape;108;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4" name="Google Shape;124;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p:cNvGrpSpPr/>
        <p:nvPr/>
      </p:nvGrpSpPr>
      <p:grpSpPr>
        <a:xfrm>
          <a:off x="0" y="0"/>
          <a:ext cx="0" cy="0"/>
          <a:chOff x="0" y="0"/>
          <a:chExt cx="0" cy="0"/>
        </a:xfrm>
      </p:grpSpPr>
      <p:sp>
        <p:nvSpPr>
          <p:cNvPr id="139" name="Google Shape;139;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0" name="Google Shape;140;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6" name="Google Shape;156;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p:cNvGrpSpPr/>
        <p:nvPr/>
      </p:nvGrpSpPr>
      <p:grpSpPr>
        <a:xfrm>
          <a:off x="0" y="0"/>
          <a:ext cx="0" cy="0"/>
          <a:chOff x="0" y="0"/>
          <a:chExt cx="0" cy="0"/>
        </a:xfrm>
      </p:grpSpPr>
      <p:sp>
        <p:nvSpPr>
          <p:cNvPr id="187" name="Google Shape;187;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8" name="Google Shape;188;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4" name="Google Shape;204;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p:cNvGrpSpPr/>
        <p:nvPr/>
      </p:nvGrpSpPr>
      <p:grpSpPr>
        <a:xfrm>
          <a:off x="0" y="0"/>
          <a:ext cx="0" cy="0"/>
          <a:chOff x="0" y="0"/>
          <a:chExt cx="0" cy="0"/>
        </a:xfrm>
      </p:grpSpPr>
      <p:sp>
        <p:nvSpPr>
          <p:cNvPr id="219" name="Google Shape;219;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0" name="Google Shape;220;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
        <p:cNvGrpSpPr/>
        <p:nvPr/>
      </p:nvGrpSpPr>
      <p:grpSpPr>
        <a:xfrm>
          <a:off x="0" y="0"/>
          <a:ext cx="0" cy="0"/>
          <a:chOff x="0" y="0"/>
          <a:chExt cx="0" cy="0"/>
        </a:xfrm>
      </p:grpSpPr>
      <p:sp>
        <p:nvSpPr>
          <p:cNvPr id="235" name="Google Shape;235;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6" name="Google Shape;236;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p:cNvGrpSpPr/>
        <p:nvPr/>
      </p:nvGrpSpPr>
      <p:grpSpPr>
        <a:xfrm>
          <a:off x="0" y="0"/>
          <a:ext cx="0" cy="0"/>
          <a:chOff x="0" y="0"/>
          <a:chExt cx="0" cy="0"/>
        </a:xfrm>
      </p:grpSpPr>
      <p:sp>
        <p:nvSpPr>
          <p:cNvPr id="251" name="Google Shape;251;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2" name="Google Shape;252;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
        <p:cNvGrpSpPr/>
        <p:nvPr/>
      </p:nvGrpSpPr>
      <p:grpSpPr>
        <a:xfrm>
          <a:off x="0" y="0"/>
          <a:ext cx="0" cy="0"/>
          <a:chOff x="0" y="0"/>
          <a:chExt cx="0" cy="0"/>
        </a:xfrm>
      </p:grpSpPr>
      <p:sp>
        <p:nvSpPr>
          <p:cNvPr id="267" name="Google Shape;267;p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8" name="Google Shape;268;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2"/>
        <p:cNvGrpSpPr/>
        <p:nvPr/>
      </p:nvGrpSpPr>
      <p:grpSpPr>
        <a:xfrm>
          <a:off x="0" y="0"/>
          <a:ext cx="0" cy="0"/>
          <a:chOff x="0" y="0"/>
          <a:chExt cx="0" cy="0"/>
        </a:xfrm>
      </p:grpSpPr>
      <p:sp>
        <p:nvSpPr>
          <p:cNvPr id="283" name="Google Shape;283;p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84" name="Google Shape;284;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3"/>
        <p:cNvGrpSpPr/>
        <p:nvPr/>
      </p:nvGrpSpPr>
      <p:grpSpPr>
        <a:xfrm>
          <a:off x="0" y="0"/>
          <a:ext cx="0" cy="0"/>
          <a:chOff x="0" y="0"/>
          <a:chExt cx="0" cy="0"/>
        </a:xfrm>
      </p:grpSpPr>
      <p:sp>
        <p:nvSpPr>
          <p:cNvPr id="314" name="Google Shape;314;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15" name="Google Shape;315;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1"/>
        <p:cNvGrpSpPr/>
        <p:nvPr/>
      </p:nvGrpSpPr>
      <p:grpSpPr>
        <a:xfrm>
          <a:off x="0" y="0"/>
          <a:ext cx="0" cy="0"/>
          <a:chOff x="0" y="0"/>
          <a:chExt cx="0" cy="0"/>
        </a:xfrm>
      </p:grpSpPr>
      <p:sp>
        <p:nvSpPr>
          <p:cNvPr id="322" name="Google Shape;322;p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23" name="Google Shape;323;p1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p:cNvGrpSpPr/>
        <p:nvPr/>
      </p:nvGrpSpPr>
      <p:grpSpPr>
        <a:xfrm>
          <a:off x="0" y="0"/>
          <a:ext cx="0" cy="0"/>
          <a:chOff x="0" y="0"/>
          <a:chExt cx="0" cy="0"/>
        </a:xfrm>
      </p:grpSpPr>
      <p:sp>
        <p:nvSpPr>
          <p:cNvPr id="331" name="Google Shape;331;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32" name="Google Shape;332;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3"/>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3"/>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5"/>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6"/>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6"/>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7"/>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7"/>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7"/>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7"/>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0"/>
          <p:cNvSpPr>
            <a:spLocks noGrp="1"/>
          </p:cNvSpPr>
          <p:nvPr>
            <p:ph type="pic" idx="2"/>
          </p:nvPr>
        </p:nvSpPr>
        <p:spPr>
          <a:xfrm>
            <a:off x="1792288" y="612775"/>
            <a:ext cx="5486400" cy="4114800"/>
          </a:xfrm>
          <a:prstGeom prst="rect">
            <a:avLst/>
          </a:prstGeom>
          <a:noFill/>
          <a:ln>
            <a:noFill/>
          </a:ln>
        </p:spPr>
      </p:sp>
      <p:sp>
        <p:nvSpPr>
          <p:cNvPr id="64" name="Google Shape;64;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1"/>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2"/>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5.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5.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5.png"/><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5.png"/><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5.png"/><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5.png"/><Relationship Id="rId4" Type="http://schemas.openxmlformats.org/officeDocument/2006/relationships/image" Target="../media/image17.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5.png"/><Relationship Id="rId4" Type="http://schemas.openxmlformats.org/officeDocument/2006/relationships/image" Target="../media/image19.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22.png"/><Relationship Id="rId5" Type="http://schemas.openxmlformats.org/officeDocument/2006/relationships/image" Target="../media/image5.png"/><Relationship Id="rId4" Type="http://schemas.openxmlformats.org/officeDocument/2006/relationships/image" Target="../media/image21.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24.png"/><Relationship Id="rId5" Type="http://schemas.openxmlformats.org/officeDocument/2006/relationships/image" Target="../media/image5.png"/><Relationship Id="rId4" Type="http://schemas.openxmlformats.org/officeDocument/2006/relationships/image" Target="../media/image23.png"/></Relationships>
</file>

<file path=ppt/slides/_rels/slide15.xml.rels><?xml version="1.0" encoding="UTF-8" standalone="yes"?>
<Relationships xmlns="http://schemas.openxmlformats.org/package/2006/relationships"><Relationship Id="rId8" Type="http://schemas.openxmlformats.org/officeDocument/2006/relationships/image" Target="../media/image29.png"/><Relationship Id="rId13" Type="http://schemas.openxmlformats.org/officeDocument/2006/relationships/image" Target="../media/image34.png"/><Relationship Id="rId3" Type="http://schemas.openxmlformats.org/officeDocument/2006/relationships/image" Target="../media/image1.png"/><Relationship Id="rId7" Type="http://schemas.openxmlformats.org/officeDocument/2006/relationships/image" Target="../media/image28.png"/><Relationship Id="rId12" Type="http://schemas.openxmlformats.org/officeDocument/2006/relationships/image" Target="../media/image33.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27.png"/><Relationship Id="rId11" Type="http://schemas.openxmlformats.org/officeDocument/2006/relationships/image" Target="../media/image32.png"/><Relationship Id="rId5" Type="http://schemas.openxmlformats.org/officeDocument/2006/relationships/image" Target="../media/image26.png"/><Relationship Id="rId10" Type="http://schemas.openxmlformats.org/officeDocument/2006/relationships/image" Target="../media/image31.png"/><Relationship Id="rId4" Type="http://schemas.openxmlformats.org/officeDocument/2006/relationships/image" Target="../media/image25.png"/><Relationship Id="rId9" Type="http://schemas.openxmlformats.org/officeDocument/2006/relationships/image" Target="../media/image30.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 Id="rId5" Type="http://schemas.openxmlformats.org/officeDocument/2006/relationships/image" Target="../media/image36.png"/><Relationship Id="rId4" Type="http://schemas.openxmlformats.org/officeDocument/2006/relationships/image" Target="../media/image35.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37.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38.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F2937"/>
        </a:solidFill>
        <a:effectLst/>
      </p:bgPr>
    </p:bg>
    <p:spTree>
      <p:nvGrpSpPr>
        <p:cNvPr id="1" name="Shape 83"/>
        <p:cNvGrpSpPr/>
        <p:nvPr/>
      </p:nvGrpSpPr>
      <p:grpSpPr>
        <a:xfrm>
          <a:off x="0" y="0"/>
          <a:ext cx="0" cy="0"/>
          <a:chOff x="0" y="0"/>
          <a:chExt cx="0" cy="0"/>
        </a:xfrm>
      </p:grpSpPr>
      <p:pic>
        <p:nvPicPr>
          <p:cNvPr id="84" name="Google Shape;84;p13"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85" name="Google Shape;85;p13"/>
          <p:cNvSpPr txBox="1"/>
          <p:nvPr/>
        </p:nvSpPr>
        <p:spPr>
          <a:xfrm>
            <a:off x="1095375" y="1932682"/>
            <a:ext cx="10001250" cy="1485900"/>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en-US" sz="4875" b="1" i="0" u="none" strike="noStrike" cap="none">
                <a:solidFill>
                  <a:srgbClr val="FACC15"/>
                </a:solidFill>
                <a:latin typeface="Poppins"/>
                <a:ea typeface="Poppins"/>
                <a:cs typeface="Poppins"/>
                <a:sym typeface="Poppins"/>
              </a:rPr>
              <a:t>Astro-Sage Call Center</a:t>
            </a:r>
            <a:br>
              <a:rPr lang="en-US" sz="1800" b="0" i="0" u="none" strike="noStrike" cap="none">
                <a:solidFill>
                  <a:schemeClr val="dk1"/>
                </a:solidFill>
                <a:latin typeface="Calibri"/>
                <a:ea typeface="Calibri"/>
                <a:cs typeface="Calibri"/>
                <a:sym typeface="Calibri"/>
              </a:rPr>
            </a:br>
            <a:r>
              <a:rPr lang="en-US" sz="4875" b="1" i="0" u="none" strike="noStrike" cap="none">
                <a:solidFill>
                  <a:srgbClr val="FACC15"/>
                </a:solidFill>
                <a:latin typeface="Poppins"/>
                <a:ea typeface="Poppins"/>
                <a:cs typeface="Poppins"/>
                <a:sym typeface="Poppins"/>
              </a:rPr>
              <a:t> Performance Analysis</a:t>
            </a:r>
            <a:endParaRPr/>
          </a:p>
        </p:txBody>
      </p:sp>
      <p:sp>
        <p:nvSpPr>
          <p:cNvPr id="86" name="Google Shape;86;p13"/>
          <p:cNvSpPr txBox="1"/>
          <p:nvPr/>
        </p:nvSpPr>
        <p:spPr>
          <a:xfrm>
            <a:off x="1333500" y="3609082"/>
            <a:ext cx="9525000" cy="426690"/>
          </a:xfrm>
          <a:prstGeom prst="rect">
            <a:avLst/>
          </a:prstGeom>
          <a:noFill/>
          <a:ln>
            <a:noFill/>
          </a:ln>
        </p:spPr>
        <p:txBody>
          <a:bodyPr spcFirstLastPara="1" wrap="square" lIns="0" tIns="0" rIns="0" bIns="0" anchor="t" anchorCtr="0">
            <a:spAutoFit/>
          </a:bodyPr>
          <a:lstStyle/>
          <a:p>
            <a:pPr marL="0" marR="0" lvl="0" indent="0" algn="ctr" rtl="0">
              <a:lnSpc>
                <a:spcPct val="159952"/>
              </a:lnSpc>
              <a:spcBef>
                <a:spcPts val="0"/>
              </a:spcBef>
              <a:spcAft>
                <a:spcPts val="0"/>
              </a:spcAft>
              <a:buNone/>
            </a:pPr>
            <a:r>
              <a:rPr lang="en-US" sz="2100" b="0" i="0" u="none" strike="noStrike" cap="none">
                <a:solidFill>
                  <a:srgbClr val="9CA3AF"/>
                </a:solidFill>
                <a:latin typeface="Lato"/>
                <a:ea typeface="Lato"/>
                <a:cs typeface="Lato"/>
                <a:sym typeface="Lato"/>
              </a:rPr>
              <a:t>Strategic Insights &amp; Operational Investment Plan</a:t>
            </a:r>
            <a:endParaRPr/>
          </a:p>
        </p:txBody>
      </p:sp>
      <p:sp>
        <p:nvSpPr>
          <p:cNvPr id="87" name="Google Shape;87;p13"/>
          <p:cNvSpPr txBox="1"/>
          <p:nvPr/>
        </p:nvSpPr>
        <p:spPr>
          <a:xfrm>
            <a:off x="1333500" y="4416772"/>
            <a:ext cx="9525000" cy="365670"/>
          </a:xfrm>
          <a:prstGeom prst="rect">
            <a:avLst/>
          </a:prstGeom>
          <a:noFill/>
          <a:ln>
            <a:noFill/>
          </a:ln>
        </p:spPr>
        <p:txBody>
          <a:bodyPr spcFirstLastPara="1" wrap="square" lIns="0" tIns="0" rIns="0" bIns="0" anchor="t" anchorCtr="0">
            <a:spAutoFit/>
          </a:bodyPr>
          <a:lstStyle/>
          <a:p>
            <a:pPr marL="0" marR="0" lvl="0" indent="0" algn="ctr" rtl="0">
              <a:lnSpc>
                <a:spcPct val="159944"/>
              </a:lnSpc>
              <a:spcBef>
                <a:spcPts val="0"/>
              </a:spcBef>
              <a:spcAft>
                <a:spcPts val="0"/>
              </a:spcAft>
              <a:buNone/>
            </a:pPr>
            <a:r>
              <a:rPr lang="en-US" sz="1800" b="0" i="1" u="none" strike="noStrike" cap="none">
                <a:solidFill>
                  <a:srgbClr val="D1D5DB"/>
                </a:solidFill>
                <a:latin typeface="Lato"/>
                <a:ea typeface="Lato"/>
                <a:cs typeface="Lato"/>
                <a:sym typeface="Lato"/>
              </a:rPr>
              <a:t>Prepared by Koushik Yarram</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F2937"/>
        </a:solidFill>
        <a:effectLst/>
      </p:bgPr>
    </p:bg>
    <p:spTree>
      <p:nvGrpSpPr>
        <p:cNvPr id="1" name="Shape 91"/>
        <p:cNvGrpSpPr/>
        <p:nvPr/>
      </p:nvGrpSpPr>
      <p:grpSpPr>
        <a:xfrm>
          <a:off x="0" y="0"/>
          <a:ext cx="0" cy="0"/>
          <a:chOff x="0" y="0"/>
          <a:chExt cx="0" cy="0"/>
        </a:xfrm>
      </p:grpSpPr>
      <p:pic>
        <p:nvPicPr>
          <p:cNvPr id="92" name="Google Shape;92;p14"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93" name="Google Shape;93;p14" descr="image.png"/>
          <p:cNvPicPr preferRelativeResize="0"/>
          <p:nvPr/>
        </p:nvPicPr>
        <p:blipFill rotWithShape="1">
          <a:blip r:embed="rId4">
            <a:alphaModFix/>
          </a:blip>
          <a:srcRect/>
          <a:stretch/>
        </p:blipFill>
        <p:spPr>
          <a:xfrm>
            <a:off x="1809750" y="1878508"/>
            <a:ext cx="8572500" cy="952500"/>
          </a:xfrm>
          <a:prstGeom prst="rect">
            <a:avLst/>
          </a:prstGeom>
          <a:noFill/>
          <a:ln>
            <a:noFill/>
          </a:ln>
        </p:spPr>
      </p:pic>
      <p:sp>
        <p:nvSpPr>
          <p:cNvPr id="94" name="Google Shape;94;p14"/>
          <p:cNvSpPr txBox="1"/>
          <p:nvPr/>
        </p:nvSpPr>
        <p:spPr>
          <a:xfrm>
            <a:off x="1809750" y="3212008"/>
            <a:ext cx="8572500" cy="2719982"/>
          </a:xfrm>
          <a:prstGeom prst="rect">
            <a:avLst/>
          </a:prstGeom>
          <a:noFill/>
          <a:ln>
            <a:noFill/>
          </a:ln>
        </p:spPr>
        <p:txBody>
          <a:bodyPr spcFirstLastPara="1" wrap="square" lIns="0" tIns="0" rIns="0" bIns="0" anchor="t" anchorCtr="0">
            <a:spAutoFit/>
          </a:bodyPr>
          <a:lstStyle/>
          <a:p>
            <a:pPr marL="0" marR="0" lvl="0" indent="0" algn="ctr" rtl="0">
              <a:lnSpc>
                <a:spcPct val="170000"/>
              </a:lnSpc>
              <a:spcBef>
                <a:spcPts val="0"/>
              </a:spcBef>
              <a:spcAft>
                <a:spcPts val="0"/>
              </a:spcAft>
              <a:buNone/>
            </a:pPr>
            <a:r>
              <a:rPr lang="en-US" sz="2100" b="0" i="0" u="none" strike="noStrike" cap="none">
                <a:solidFill>
                  <a:srgbClr val="E5E7EB"/>
                </a:solidFill>
                <a:latin typeface="Lato"/>
                <a:ea typeface="Lato"/>
                <a:cs typeface="Lato"/>
                <a:sym typeface="Lato"/>
              </a:rPr>
              <a:t>With a ₹1 crore investment aimed at upgrading call center operations, AstroSage needs to deeply analyze historical interaction data and performance metrics. The primary challenge is identifying operational bottlenecks to allocate these funds effectively, ensuring a boost in efficiency, elevated customer satisfaction, and maximized long-term profitability.</a:t>
            </a:r>
            <a:endParaRPr/>
          </a:p>
        </p:txBody>
      </p:sp>
      <p:sp>
        <p:nvSpPr>
          <p:cNvPr id="95" name="Google Shape;95;p14"/>
          <p:cNvSpPr txBox="1"/>
          <p:nvPr/>
        </p:nvSpPr>
        <p:spPr>
          <a:xfrm>
            <a:off x="571500" y="571500"/>
            <a:ext cx="11601450" cy="6191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0" i="0" u="none" strike="noStrike" cap="none">
                <a:solidFill>
                  <a:srgbClr val="FACC15"/>
                </a:solidFill>
                <a:latin typeface="Poppins SemiBold"/>
                <a:ea typeface="Poppins SemiBold"/>
                <a:cs typeface="Poppins SemiBold"/>
                <a:sym typeface="Poppins SemiBold"/>
              </a:rPr>
              <a:t>Problem Statement</a:t>
            </a:r>
            <a:endParaRPr/>
          </a:p>
        </p:txBody>
      </p:sp>
      <p:sp>
        <p:nvSpPr>
          <p:cNvPr id="96" name="Google Shape;96;p14"/>
          <p:cNvSpPr/>
          <p:nvPr/>
        </p:nvSpPr>
        <p:spPr>
          <a:xfrm>
            <a:off x="571500" y="1266825"/>
            <a:ext cx="11049000" cy="19050"/>
          </a:xfrm>
          <a:prstGeom prst="rect">
            <a:avLst/>
          </a:prstGeom>
          <a:solidFill>
            <a:srgbClr val="37415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F2937"/>
        </a:solidFill>
        <a:effectLst/>
      </p:bgPr>
    </p:bg>
    <p:spTree>
      <p:nvGrpSpPr>
        <p:cNvPr id="1" name="Shape 100"/>
        <p:cNvGrpSpPr/>
        <p:nvPr/>
      </p:nvGrpSpPr>
      <p:grpSpPr>
        <a:xfrm>
          <a:off x="0" y="0"/>
          <a:ext cx="0" cy="0"/>
          <a:chOff x="0" y="0"/>
          <a:chExt cx="0" cy="0"/>
        </a:xfrm>
      </p:grpSpPr>
      <p:pic>
        <p:nvPicPr>
          <p:cNvPr id="101" name="Google Shape;101;p15"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02" name="Google Shape;102;p15" descr="image.png"/>
          <p:cNvPicPr preferRelativeResize="0"/>
          <p:nvPr/>
        </p:nvPicPr>
        <p:blipFill rotWithShape="1">
          <a:blip r:embed="rId4">
            <a:alphaModFix/>
          </a:blip>
          <a:srcRect/>
          <a:stretch/>
        </p:blipFill>
        <p:spPr>
          <a:xfrm>
            <a:off x="1809750" y="2105173"/>
            <a:ext cx="8572500" cy="952500"/>
          </a:xfrm>
          <a:prstGeom prst="rect">
            <a:avLst/>
          </a:prstGeom>
          <a:noFill/>
          <a:ln>
            <a:noFill/>
          </a:ln>
        </p:spPr>
      </p:pic>
      <p:sp>
        <p:nvSpPr>
          <p:cNvPr id="103" name="Google Shape;103;p15"/>
          <p:cNvSpPr txBox="1"/>
          <p:nvPr/>
        </p:nvSpPr>
        <p:spPr>
          <a:xfrm>
            <a:off x="1809750" y="3438673"/>
            <a:ext cx="8572500" cy="2266652"/>
          </a:xfrm>
          <a:prstGeom prst="rect">
            <a:avLst/>
          </a:prstGeom>
          <a:noFill/>
          <a:ln>
            <a:noFill/>
          </a:ln>
        </p:spPr>
        <p:txBody>
          <a:bodyPr spcFirstLastPara="1" wrap="square" lIns="0" tIns="0" rIns="0" bIns="0" anchor="t" anchorCtr="0">
            <a:spAutoFit/>
          </a:bodyPr>
          <a:lstStyle/>
          <a:p>
            <a:pPr marL="0" marR="0" lvl="0" indent="0" algn="ctr" rtl="0">
              <a:lnSpc>
                <a:spcPct val="170000"/>
              </a:lnSpc>
              <a:spcBef>
                <a:spcPts val="0"/>
              </a:spcBef>
              <a:spcAft>
                <a:spcPts val="0"/>
              </a:spcAft>
              <a:buNone/>
            </a:pPr>
            <a:r>
              <a:rPr lang="en-US" sz="2100" b="0" i="0" u="none" strike="noStrike" cap="none">
                <a:solidFill>
                  <a:srgbClr val="E5E7EB"/>
                </a:solidFill>
                <a:latin typeface="Lato"/>
                <a:ea typeface="Lato"/>
                <a:cs typeface="Lato"/>
                <a:sym typeface="Lato"/>
              </a:rPr>
              <a:t>To conduct a comprehensive analysis of historical consultation records, pinpointing specific operational bottlenecks and service quality gaps. The ultimate aim is to deliver data-backed recommendations that optimize agent efficiency, enhance the user experience, and drive sustainable revenue growth.</a:t>
            </a:r>
            <a:endParaRPr/>
          </a:p>
        </p:txBody>
      </p:sp>
      <p:sp>
        <p:nvSpPr>
          <p:cNvPr id="104" name="Google Shape;104;p15"/>
          <p:cNvSpPr txBox="1"/>
          <p:nvPr/>
        </p:nvSpPr>
        <p:spPr>
          <a:xfrm>
            <a:off x="571500" y="571500"/>
            <a:ext cx="11601450" cy="6191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0" i="0" u="none" strike="noStrike" cap="none">
                <a:solidFill>
                  <a:srgbClr val="FACC15"/>
                </a:solidFill>
                <a:latin typeface="Poppins SemiBold"/>
                <a:ea typeface="Poppins SemiBold"/>
                <a:cs typeface="Poppins SemiBold"/>
                <a:sym typeface="Poppins SemiBold"/>
              </a:rPr>
              <a:t>Project Objective</a:t>
            </a:r>
            <a:endParaRPr/>
          </a:p>
        </p:txBody>
      </p:sp>
      <p:sp>
        <p:nvSpPr>
          <p:cNvPr id="105" name="Google Shape;105;p15"/>
          <p:cNvSpPr/>
          <p:nvPr/>
        </p:nvSpPr>
        <p:spPr>
          <a:xfrm>
            <a:off x="571500" y="1266825"/>
            <a:ext cx="11049000" cy="19050"/>
          </a:xfrm>
          <a:prstGeom prst="rect">
            <a:avLst/>
          </a:prstGeom>
          <a:solidFill>
            <a:srgbClr val="37415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F2937"/>
        </a:solidFill>
        <a:effectLst/>
      </p:bgPr>
    </p:bg>
    <p:spTree>
      <p:nvGrpSpPr>
        <p:cNvPr id="1" name="Shape 109"/>
        <p:cNvGrpSpPr/>
        <p:nvPr/>
      </p:nvGrpSpPr>
      <p:grpSpPr>
        <a:xfrm>
          <a:off x="0" y="0"/>
          <a:ext cx="0" cy="0"/>
          <a:chOff x="0" y="0"/>
          <a:chExt cx="0" cy="0"/>
        </a:xfrm>
      </p:grpSpPr>
      <p:pic>
        <p:nvPicPr>
          <p:cNvPr id="110" name="Google Shape;110;p16"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11" name="Google Shape;111;p16" descr="image.png"/>
          <p:cNvPicPr preferRelativeResize="0"/>
          <p:nvPr/>
        </p:nvPicPr>
        <p:blipFill rotWithShape="1">
          <a:blip r:embed="rId4">
            <a:alphaModFix/>
          </a:blip>
          <a:srcRect/>
          <a:stretch/>
        </p:blipFill>
        <p:spPr>
          <a:xfrm>
            <a:off x="6334125" y="1690687"/>
            <a:ext cx="5286375" cy="4572000"/>
          </a:xfrm>
          <a:prstGeom prst="rect">
            <a:avLst/>
          </a:prstGeom>
          <a:noFill/>
          <a:ln>
            <a:noFill/>
          </a:ln>
        </p:spPr>
      </p:pic>
      <p:sp>
        <p:nvSpPr>
          <p:cNvPr id="112" name="Google Shape;112;p16"/>
          <p:cNvSpPr txBox="1"/>
          <p:nvPr/>
        </p:nvSpPr>
        <p:spPr>
          <a:xfrm>
            <a:off x="952500" y="1992213"/>
            <a:ext cx="4905375" cy="670321"/>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50" b="0" i="0" u="none" strike="noStrike" cap="none">
                <a:solidFill>
                  <a:srgbClr val="E5E7EB"/>
                </a:solidFill>
                <a:latin typeface="Lato"/>
                <a:ea typeface="Lato"/>
                <a:cs typeface="Lato"/>
                <a:sym typeface="Lato"/>
              </a:rPr>
              <a:t>Analyzed a robust dataset containing over </a:t>
            </a:r>
            <a:r>
              <a:rPr lang="en-US" sz="1650" b="1" i="0" u="none" strike="noStrike" cap="none">
                <a:solidFill>
                  <a:srgbClr val="E5E7EB"/>
                </a:solidFill>
                <a:latin typeface="Lato"/>
                <a:ea typeface="Lato"/>
                <a:cs typeface="Lato"/>
                <a:sym typeface="Lato"/>
              </a:rPr>
              <a:t>28,000 unique consultation records</a:t>
            </a:r>
            <a:r>
              <a:rPr lang="en-US" sz="1650" b="0" i="0" u="none" strike="noStrike" cap="none">
                <a:solidFill>
                  <a:srgbClr val="E5E7EB"/>
                </a:solidFill>
                <a:latin typeface="Lato"/>
                <a:ea typeface="Lato"/>
                <a:cs typeface="Lato"/>
                <a:sym typeface="Lato"/>
              </a:rPr>
              <a:t> from 2023-2024.</a:t>
            </a:r>
            <a:endParaRPr/>
          </a:p>
        </p:txBody>
      </p:sp>
      <p:sp>
        <p:nvSpPr>
          <p:cNvPr id="113" name="Google Shape;113;p16"/>
          <p:cNvSpPr txBox="1"/>
          <p:nvPr/>
        </p:nvSpPr>
        <p:spPr>
          <a:xfrm>
            <a:off x="952500" y="2900660"/>
            <a:ext cx="4905375" cy="1005482"/>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50" b="0" i="0" u="none" strike="noStrike" cap="none">
                <a:solidFill>
                  <a:srgbClr val="E5E7EB"/>
                </a:solidFill>
                <a:latin typeface="Lato"/>
                <a:ea typeface="Lato"/>
                <a:cs typeface="Lato"/>
                <a:sym typeface="Lato"/>
              </a:rPr>
              <a:t>Encompasses detailed metrics on calls, chats, user ratings, financial revenue, and individual agent performance.</a:t>
            </a:r>
            <a:endParaRPr/>
          </a:p>
        </p:txBody>
      </p:sp>
      <p:sp>
        <p:nvSpPr>
          <p:cNvPr id="114" name="Google Shape;114;p16"/>
          <p:cNvSpPr txBox="1"/>
          <p:nvPr/>
        </p:nvSpPr>
        <p:spPr>
          <a:xfrm>
            <a:off x="952500" y="4144267"/>
            <a:ext cx="4905375" cy="670321"/>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50" b="0" i="0" u="none" strike="noStrike" cap="none">
                <a:solidFill>
                  <a:srgbClr val="E5E7EB"/>
                </a:solidFill>
                <a:latin typeface="Lato"/>
                <a:ea typeface="Lato"/>
                <a:cs typeface="Lato"/>
                <a:sym typeface="Lato"/>
              </a:rPr>
              <a:t>Captures comprehensive platform activity (App vs. GuruCool) and temporal trends (hourly/daily).</a:t>
            </a:r>
            <a:endParaRPr/>
          </a:p>
        </p:txBody>
      </p:sp>
      <p:sp>
        <p:nvSpPr>
          <p:cNvPr id="115" name="Google Shape;115;p16"/>
          <p:cNvSpPr txBox="1"/>
          <p:nvPr/>
        </p:nvSpPr>
        <p:spPr>
          <a:xfrm>
            <a:off x="952500" y="5052714"/>
            <a:ext cx="4905375" cy="670321"/>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50" b="0" i="0" u="none" strike="noStrike" cap="none">
                <a:solidFill>
                  <a:srgbClr val="E5E7EB"/>
                </a:solidFill>
                <a:latin typeface="Lato"/>
                <a:ea typeface="Lato"/>
                <a:cs typeface="Lato"/>
                <a:sym typeface="Lato"/>
              </a:rPr>
              <a:t>Provides the foundational metrics necessary for a deep-dive operational evaluation.</a:t>
            </a:r>
            <a:endParaRPr/>
          </a:p>
        </p:txBody>
      </p:sp>
      <p:sp>
        <p:nvSpPr>
          <p:cNvPr id="116" name="Google Shape;116;p16"/>
          <p:cNvSpPr txBox="1"/>
          <p:nvPr/>
        </p:nvSpPr>
        <p:spPr>
          <a:xfrm>
            <a:off x="571500" y="571500"/>
            <a:ext cx="11601450" cy="6191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0" i="0" u="none" strike="noStrike" cap="none">
                <a:solidFill>
                  <a:srgbClr val="FACC15"/>
                </a:solidFill>
                <a:latin typeface="Poppins SemiBold"/>
                <a:ea typeface="Poppins SemiBold"/>
                <a:cs typeface="Poppins SemiBold"/>
                <a:sym typeface="Poppins SemiBold"/>
              </a:rPr>
              <a:t>Dataset Overview</a:t>
            </a:r>
            <a:endParaRPr/>
          </a:p>
        </p:txBody>
      </p:sp>
      <p:sp>
        <p:nvSpPr>
          <p:cNvPr id="117" name="Google Shape;117;p16"/>
          <p:cNvSpPr/>
          <p:nvPr/>
        </p:nvSpPr>
        <p:spPr>
          <a:xfrm>
            <a:off x="571500" y="1266825"/>
            <a:ext cx="11049000" cy="19050"/>
          </a:xfrm>
          <a:prstGeom prst="rect">
            <a:avLst/>
          </a:prstGeom>
          <a:solidFill>
            <a:srgbClr val="37415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118" name="Google Shape;118;p16" descr="image.png"/>
          <p:cNvPicPr preferRelativeResize="0"/>
          <p:nvPr/>
        </p:nvPicPr>
        <p:blipFill rotWithShape="1">
          <a:blip r:embed="rId5">
            <a:alphaModFix/>
          </a:blip>
          <a:srcRect/>
          <a:stretch/>
        </p:blipFill>
        <p:spPr>
          <a:xfrm>
            <a:off x="571500" y="2011263"/>
            <a:ext cx="142875" cy="247650"/>
          </a:xfrm>
          <a:prstGeom prst="rect">
            <a:avLst/>
          </a:prstGeom>
          <a:noFill/>
          <a:ln>
            <a:noFill/>
          </a:ln>
        </p:spPr>
      </p:pic>
      <p:pic>
        <p:nvPicPr>
          <p:cNvPr id="119" name="Google Shape;119;p16" descr="image.png"/>
          <p:cNvPicPr preferRelativeResize="0"/>
          <p:nvPr/>
        </p:nvPicPr>
        <p:blipFill rotWithShape="1">
          <a:blip r:embed="rId5">
            <a:alphaModFix/>
          </a:blip>
          <a:srcRect/>
          <a:stretch/>
        </p:blipFill>
        <p:spPr>
          <a:xfrm>
            <a:off x="571500" y="2919710"/>
            <a:ext cx="142875" cy="247650"/>
          </a:xfrm>
          <a:prstGeom prst="rect">
            <a:avLst/>
          </a:prstGeom>
          <a:noFill/>
          <a:ln>
            <a:noFill/>
          </a:ln>
        </p:spPr>
      </p:pic>
      <p:pic>
        <p:nvPicPr>
          <p:cNvPr id="120" name="Google Shape;120;p16" descr="image.png"/>
          <p:cNvPicPr preferRelativeResize="0"/>
          <p:nvPr/>
        </p:nvPicPr>
        <p:blipFill rotWithShape="1">
          <a:blip r:embed="rId5">
            <a:alphaModFix/>
          </a:blip>
          <a:srcRect/>
          <a:stretch/>
        </p:blipFill>
        <p:spPr>
          <a:xfrm>
            <a:off x="571500" y="4163317"/>
            <a:ext cx="142875" cy="247650"/>
          </a:xfrm>
          <a:prstGeom prst="rect">
            <a:avLst/>
          </a:prstGeom>
          <a:noFill/>
          <a:ln>
            <a:noFill/>
          </a:ln>
        </p:spPr>
      </p:pic>
      <p:pic>
        <p:nvPicPr>
          <p:cNvPr id="121" name="Google Shape;121;p16" descr="image.png"/>
          <p:cNvPicPr preferRelativeResize="0"/>
          <p:nvPr/>
        </p:nvPicPr>
        <p:blipFill rotWithShape="1">
          <a:blip r:embed="rId5">
            <a:alphaModFix/>
          </a:blip>
          <a:srcRect/>
          <a:stretch/>
        </p:blipFill>
        <p:spPr>
          <a:xfrm>
            <a:off x="571500" y="5071764"/>
            <a:ext cx="142875" cy="247650"/>
          </a:xfrm>
          <a:prstGeom prst="rect">
            <a:avLst/>
          </a:prstGeom>
          <a:noFill/>
          <a:ln>
            <a:noFill/>
          </a:ln>
        </p:spPr>
      </p:pic>
      <p:pic>
        <p:nvPicPr>
          <p:cNvPr id="3" name="Picture 2">
            <a:extLst>
              <a:ext uri="{FF2B5EF4-FFF2-40B4-BE49-F238E27FC236}">
                <a16:creationId xmlns:a16="http://schemas.microsoft.com/office/drawing/2014/main" id="{2D6504B0-091C-CA80-F4D6-F6BAB47873C0}"/>
              </a:ext>
            </a:extLst>
          </p:cNvPr>
          <p:cNvPicPr>
            <a:picLocks noChangeAspect="1"/>
          </p:cNvPicPr>
          <p:nvPr/>
        </p:nvPicPr>
        <p:blipFill>
          <a:blip r:embed="rId6"/>
          <a:stretch>
            <a:fillRect/>
          </a:stretch>
        </p:blipFill>
        <p:spPr>
          <a:xfrm>
            <a:off x="5785659" y="1595437"/>
            <a:ext cx="6184668" cy="4691063"/>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F2937"/>
        </a:solidFill>
        <a:effectLst/>
      </p:bgPr>
    </p:bg>
    <p:spTree>
      <p:nvGrpSpPr>
        <p:cNvPr id="1" name="Shape 125"/>
        <p:cNvGrpSpPr/>
        <p:nvPr/>
      </p:nvGrpSpPr>
      <p:grpSpPr>
        <a:xfrm>
          <a:off x="0" y="0"/>
          <a:ext cx="0" cy="0"/>
          <a:chOff x="0" y="0"/>
          <a:chExt cx="0" cy="0"/>
        </a:xfrm>
      </p:grpSpPr>
      <p:pic>
        <p:nvPicPr>
          <p:cNvPr id="126" name="Google Shape;126;p17" descr="image.png"/>
          <p:cNvPicPr preferRelativeResize="0"/>
          <p:nvPr/>
        </p:nvPicPr>
        <p:blipFill rotWithShape="1">
          <a:blip r:embed="rId3">
            <a:alphaModFix/>
          </a:blip>
          <a:srcRect/>
          <a:stretch/>
        </p:blipFill>
        <p:spPr>
          <a:xfrm>
            <a:off x="-19050" y="0"/>
            <a:ext cx="12192000" cy="6858000"/>
          </a:xfrm>
          <a:prstGeom prst="rect">
            <a:avLst/>
          </a:prstGeom>
          <a:noFill/>
          <a:ln>
            <a:noFill/>
          </a:ln>
        </p:spPr>
      </p:pic>
      <p:pic>
        <p:nvPicPr>
          <p:cNvPr id="127" name="Google Shape;127;p17" descr="image.png"/>
          <p:cNvPicPr preferRelativeResize="0"/>
          <p:nvPr/>
        </p:nvPicPr>
        <p:blipFill rotWithShape="1">
          <a:blip r:embed="rId4">
            <a:alphaModFix/>
          </a:blip>
          <a:srcRect/>
          <a:stretch/>
        </p:blipFill>
        <p:spPr>
          <a:xfrm>
            <a:off x="6334125" y="1690687"/>
            <a:ext cx="5286375" cy="4572000"/>
          </a:xfrm>
          <a:prstGeom prst="rect">
            <a:avLst/>
          </a:prstGeom>
          <a:noFill/>
          <a:ln>
            <a:noFill/>
          </a:ln>
        </p:spPr>
      </p:pic>
      <p:sp>
        <p:nvSpPr>
          <p:cNvPr id="128" name="Google Shape;128;p17"/>
          <p:cNvSpPr txBox="1"/>
          <p:nvPr/>
        </p:nvSpPr>
        <p:spPr>
          <a:xfrm>
            <a:off x="952500" y="1824632"/>
            <a:ext cx="4905375" cy="1005482"/>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50" b="1" i="0" u="none" strike="noStrike" cap="none">
                <a:solidFill>
                  <a:srgbClr val="E5E7EB"/>
                </a:solidFill>
                <a:latin typeface="Lato"/>
                <a:ea typeface="Lato"/>
                <a:cs typeface="Lato"/>
                <a:sym typeface="Lato"/>
              </a:rPr>
              <a:t>Data Cleansing:</a:t>
            </a:r>
            <a:r>
              <a:rPr lang="en-US" sz="1650" b="0" i="0" u="none" strike="noStrike" cap="none">
                <a:solidFill>
                  <a:srgbClr val="E5E7EB"/>
                </a:solidFill>
                <a:latin typeface="Lato"/>
                <a:ea typeface="Lato"/>
                <a:cs typeface="Lato"/>
                <a:sym typeface="Lato"/>
              </a:rPr>
              <a:t> Ensured data accuracy through rigorous validation, handling missing values and formatting inconsistencies.</a:t>
            </a:r>
            <a:endParaRPr/>
          </a:p>
        </p:txBody>
      </p:sp>
      <p:sp>
        <p:nvSpPr>
          <p:cNvPr id="129" name="Google Shape;129;p17"/>
          <p:cNvSpPr txBox="1"/>
          <p:nvPr/>
        </p:nvSpPr>
        <p:spPr>
          <a:xfrm>
            <a:off x="952500" y="3068240"/>
            <a:ext cx="4905375" cy="670321"/>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50" b="1" i="0" u="none" strike="noStrike" cap="none">
                <a:solidFill>
                  <a:srgbClr val="E5E7EB"/>
                </a:solidFill>
                <a:latin typeface="Lato"/>
                <a:ea typeface="Lato"/>
                <a:cs typeface="Lato"/>
                <a:sym typeface="Lato"/>
              </a:rPr>
              <a:t>Feature Engineering:</a:t>
            </a:r>
            <a:r>
              <a:rPr lang="en-US" sz="1650" b="0" i="0" u="none" strike="noStrike" cap="none">
                <a:solidFill>
                  <a:srgbClr val="E5E7EB"/>
                </a:solidFill>
                <a:latin typeface="Lato"/>
                <a:ea typeface="Lato"/>
                <a:cs typeface="Lato"/>
                <a:sym typeface="Lato"/>
              </a:rPr>
              <a:t> Extracted specific temporal elements to enable daily and hourly trend analysis.</a:t>
            </a:r>
            <a:endParaRPr/>
          </a:p>
        </p:txBody>
      </p:sp>
      <p:sp>
        <p:nvSpPr>
          <p:cNvPr id="130" name="Google Shape;130;p17"/>
          <p:cNvSpPr txBox="1"/>
          <p:nvPr/>
        </p:nvSpPr>
        <p:spPr>
          <a:xfrm>
            <a:off x="952500" y="3976687"/>
            <a:ext cx="4905375" cy="670321"/>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50" b="1" i="0" u="none" strike="noStrike" cap="none">
                <a:solidFill>
                  <a:srgbClr val="E5E7EB"/>
                </a:solidFill>
                <a:latin typeface="Lato"/>
                <a:ea typeface="Lato"/>
                <a:cs typeface="Lato"/>
                <a:sym typeface="Lato"/>
              </a:rPr>
              <a:t>Aggregation:</a:t>
            </a:r>
            <a:r>
              <a:rPr lang="en-US" sz="1650" b="0" i="0" u="none" strike="noStrike" cap="none">
                <a:solidFill>
                  <a:srgbClr val="E5E7EB"/>
                </a:solidFill>
                <a:latin typeface="Lato"/>
                <a:ea typeface="Lato"/>
                <a:cs typeface="Lato"/>
                <a:sym typeface="Lato"/>
              </a:rPr>
              <a:t> Utilized advanced pivot tables for metric summarization and cross-referencing.</a:t>
            </a:r>
            <a:endParaRPr/>
          </a:p>
        </p:txBody>
      </p:sp>
      <p:sp>
        <p:nvSpPr>
          <p:cNvPr id="131" name="Google Shape;131;p17"/>
          <p:cNvSpPr txBox="1"/>
          <p:nvPr/>
        </p:nvSpPr>
        <p:spPr>
          <a:xfrm>
            <a:off x="952500" y="4885134"/>
            <a:ext cx="4905375" cy="1005482"/>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50" b="1" i="0" u="none" strike="noStrike" cap="none">
                <a:solidFill>
                  <a:srgbClr val="E5E7EB"/>
                </a:solidFill>
                <a:latin typeface="Lato"/>
                <a:ea typeface="Lato"/>
                <a:cs typeface="Lato"/>
                <a:sym typeface="Lato"/>
              </a:rPr>
              <a:t>Visualization:</a:t>
            </a:r>
            <a:r>
              <a:rPr lang="en-US" sz="1650" b="0" i="0" u="none" strike="noStrike" cap="none">
                <a:solidFill>
                  <a:srgbClr val="E5E7EB"/>
                </a:solidFill>
                <a:latin typeface="Lato"/>
                <a:ea typeface="Lato"/>
                <a:cs typeface="Lato"/>
                <a:sym typeface="Lato"/>
              </a:rPr>
              <a:t> Developed a dynamic, interactive dashboard to uncover hidden patterns and ongoing monitoring.</a:t>
            </a:r>
            <a:endParaRPr/>
          </a:p>
        </p:txBody>
      </p:sp>
      <p:sp>
        <p:nvSpPr>
          <p:cNvPr id="132" name="Google Shape;132;p17"/>
          <p:cNvSpPr txBox="1"/>
          <p:nvPr/>
        </p:nvSpPr>
        <p:spPr>
          <a:xfrm>
            <a:off x="571500" y="571500"/>
            <a:ext cx="11601450" cy="6191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0" i="0" u="none" strike="noStrike" cap="none">
                <a:solidFill>
                  <a:srgbClr val="FACC15"/>
                </a:solidFill>
                <a:latin typeface="Poppins SemiBold"/>
                <a:ea typeface="Poppins SemiBold"/>
                <a:cs typeface="Poppins SemiBold"/>
                <a:sym typeface="Poppins SemiBold"/>
              </a:rPr>
              <a:t>Methodology</a:t>
            </a:r>
            <a:endParaRPr/>
          </a:p>
        </p:txBody>
      </p:sp>
      <p:sp>
        <p:nvSpPr>
          <p:cNvPr id="133" name="Google Shape;133;p17"/>
          <p:cNvSpPr/>
          <p:nvPr/>
        </p:nvSpPr>
        <p:spPr>
          <a:xfrm>
            <a:off x="571500" y="1266825"/>
            <a:ext cx="11049000" cy="19050"/>
          </a:xfrm>
          <a:prstGeom prst="rect">
            <a:avLst/>
          </a:prstGeom>
          <a:solidFill>
            <a:srgbClr val="37415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134" name="Google Shape;134;p17" descr="image.png"/>
          <p:cNvPicPr preferRelativeResize="0"/>
          <p:nvPr/>
        </p:nvPicPr>
        <p:blipFill rotWithShape="1">
          <a:blip r:embed="rId5">
            <a:alphaModFix/>
          </a:blip>
          <a:srcRect/>
          <a:stretch/>
        </p:blipFill>
        <p:spPr>
          <a:xfrm>
            <a:off x="571500" y="1843682"/>
            <a:ext cx="142875" cy="247650"/>
          </a:xfrm>
          <a:prstGeom prst="rect">
            <a:avLst/>
          </a:prstGeom>
          <a:noFill/>
          <a:ln>
            <a:noFill/>
          </a:ln>
        </p:spPr>
      </p:pic>
      <p:pic>
        <p:nvPicPr>
          <p:cNvPr id="135" name="Google Shape;135;p17" descr="image.png"/>
          <p:cNvPicPr preferRelativeResize="0"/>
          <p:nvPr/>
        </p:nvPicPr>
        <p:blipFill rotWithShape="1">
          <a:blip r:embed="rId5">
            <a:alphaModFix/>
          </a:blip>
          <a:srcRect/>
          <a:stretch/>
        </p:blipFill>
        <p:spPr>
          <a:xfrm>
            <a:off x="571500" y="3087290"/>
            <a:ext cx="142875" cy="247650"/>
          </a:xfrm>
          <a:prstGeom prst="rect">
            <a:avLst/>
          </a:prstGeom>
          <a:noFill/>
          <a:ln>
            <a:noFill/>
          </a:ln>
        </p:spPr>
      </p:pic>
      <p:pic>
        <p:nvPicPr>
          <p:cNvPr id="136" name="Google Shape;136;p17" descr="image.png"/>
          <p:cNvPicPr preferRelativeResize="0"/>
          <p:nvPr/>
        </p:nvPicPr>
        <p:blipFill rotWithShape="1">
          <a:blip r:embed="rId5">
            <a:alphaModFix/>
          </a:blip>
          <a:srcRect/>
          <a:stretch/>
        </p:blipFill>
        <p:spPr>
          <a:xfrm>
            <a:off x="571500" y="3995737"/>
            <a:ext cx="142875" cy="247650"/>
          </a:xfrm>
          <a:prstGeom prst="rect">
            <a:avLst/>
          </a:prstGeom>
          <a:noFill/>
          <a:ln>
            <a:noFill/>
          </a:ln>
        </p:spPr>
      </p:pic>
      <p:pic>
        <p:nvPicPr>
          <p:cNvPr id="137" name="Google Shape;137;p17" descr="image.png"/>
          <p:cNvPicPr preferRelativeResize="0"/>
          <p:nvPr/>
        </p:nvPicPr>
        <p:blipFill rotWithShape="1">
          <a:blip r:embed="rId5">
            <a:alphaModFix/>
          </a:blip>
          <a:srcRect/>
          <a:stretch/>
        </p:blipFill>
        <p:spPr>
          <a:xfrm>
            <a:off x="571500" y="4904184"/>
            <a:ext cx="142875" cy="247650"/>
          </a:xfrm>
          <a:prstGeom prst="rect">
            <a:avLst/>
          </a:prstGeom>
          <a:noFill/>
          <a:ln>
            <a:noFill/>
          </a:ln>
        </p:spPr>
      </p:pic>
      <p:grpSp>
        <p:nvGrpSpPr>
          <p:cNvPr id="2" name="Group 1">
            <a:extLst>
              <a:ext uri="{FF2B5EF4-FFF2-40B4-BE49-F238E27FC236}">
                <a16:creationId xmlns:a16="http://schemas.microsoft.com/office/drawing/2014/main" id="{95D2CA59-D7A1-91CC-77B2-8543F042508F}"/>
              </a:ext>
            </a:extLst>
          </p:cNvPr>
          <p:cNvGrpSpPr/>
          <p:nvPr/>
        </p:nvGrpSpPr>
        <p:grpSpPr>
          <a:xfrm>
            <a:off x="8392874" y="1437590"/>
            <a:ext cx="1875693" cy="5268694"/>
            <a:chOff x="8135815" y="837996"/>
            <a:chExt cx="1875693" cy="5268694"/>
          </a:xfrm>
          <a:effectLst>
            <a:outerShdw blurRad="50800" dist="38100" dir="16200000" rotWithShape="0">
              <a:prstClr val="black">
                <a:alpha val="40000"/>
              </a:prstClr>
            </a:outerShdw>
          </a:effectLst>
        </p:grpSpPr>
        <p:sp>
          <p:nvSpPr>
            <p:cNvPr id="3" name="Rectangle: Rounded Corners 2">
              <a:extLst>
                <a:ext uri="{FF2B5EF4-FFF2-40B4-BE49-F238E27FC236}">
                  <a16:creationId xmlns:a16="http://schemas.microsoft.com/office/drawing/2014/main" id="{36A568BE-865E-60C0-779A-2F3D59122C42}"/>
                </a:ext>
              </a:extLst>
            </p:cNvPr>
            <p:cNvSpPr/>
            <p:nvPr/>
          </p:nvSpPr>
          <p:spPr>
            <a:xfrm>
              <a:off x="8135815" y="837996"/>
              <a:ext cx="1875693" cy="742774"/>
            </a:xfrm>
            <a:prstGeom prst="roundRect">
              <a:avLst>
                <a:gd name="adj" fmla="val 5303"/>
              </a:avLst>
            </a:prstGeom>
            <a:solidFill>
              <a:schemeClr val="tx1">
                <a:lumMod val="40000"/>
                <a:lumOff val="60000"/>
              </a:schemeClr>
            </a:solidFill>
            <a:ln>
              <a:solidFill>
                <a:schemeClr val="accent6">
                  <a:lumMod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Raw Data</a:t>
              </a:r>
              <a:endParaRPr lang="en-IN" dirty="0">
                <a:solidFill>
                  <a:sysClr val="windowText" lastClr="000000"/>
                </a:solidFill>
              </a:endParaRPr>
            </a:p>
          </p:txBody>
        </p:sp>
        <p:sp>
          <p:nvSpPr>
            <p:cNvPr id="4" name="Rectangle: Rounded Corners 3">
              <a:extLst>
                <a:ext uri="{FF2B5EF4-FFF2-40B4-BE49-F238E27FC236}">
                  <a16:creationId xmlns:a16="http://schemas.microsoft.com/office/drawing/2014/main" id="{E51A22E0-0CA0-1AB9-759D-ABCC70BC7640}"/>
                </a:ext>
              </a:extLst>
            </p:cNvPr>
            <p:cNvSpPr/>
            <p:nvPr/>
          </p:nvSpPr>
          <p:spPr>
            <a:xfrm>
              <a:off x="8135815" y="1969476"/>
              <a:ext cx="1875693" cy="742774"/>
            </a:xfrm>
            <a:prstGeom prst="roundRect">
              <a:avLst>
                <a:gd name="adj" fmla="val 5303"/>
              </a:avLst>
            </a:prstGeom>
            <a:solidFill>
              <a:schemeClr val="tx1">
                <a:lumMod val="40000"/>
                <a:lumOff val="60000"/>
              </a:schemeClr>
            </a:solidFill>
            <a:ln>
              <a:solidFill>
                <a:schemeClr val="accent6">
                  <a:lumMod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Cleaning</a:t>
              </a:r>
              <a:endParaRPr lang="en-IN" dirty="0">
                <a:solidFill>
                  <a:sysClr val="windowText" lastClr="000000"/>
                </a:solidFill>
              </a:endParaRPr>
            </a:p>
          </p:txBody>
        </p:sp>
        <p:sp>
          <p:nvSpPr>
            <p:cNvPr id="5" name="Rectangle: Rounded Corners 4">
              <a:extLst>
                <a:ext uri="{FF2B5EF4-FFF2-40B4-BE49-F238E27FC236}">
                  <a16:creationId xmlns:a16="http://schemas.microsoft.com/office/drawing/2014/main" id="{B4FBF099-2A10-2908-786B-EFB1CE9B236A}"/>
                </a:ext>
              </a:extLst>
            </p:cNvPr>
            <p:cNvSpPr/>
            <p:nvPr/>
          </p:nvSpPr>
          <p:spPr>
            <a:xfrm>
              <a:off x="8135815" y="3100956"/>
              <a:ext cx="1875693" cy="742774"/>
            </a:xfrm>
            <a:prstGeom prst="roundRect">
              <a:avLst>
                <a:gd name="adj" fmla="val 5303"/>
              </a:avLst>
            </a:prstGeom>
            <a:solidFill>
              <a:schemeClr val="tx1">
                <a:lumMod val="40000"/>
                <a:lumOff val="60000"/>
              </a:schemeClr>
            </a:solidFill>
            <a:ln>
              <a:solidFill>
                <a:schemeClr val="accent6">
                  <a:lumMod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Analysis</a:t>
              </a:r>
              <a:endParaRPr lang="en-IN" dirty="0">
                <a:solidFill>
                  <a:sysClr val="windowText" lastClr="000000"/>
                </a:solidFill>
              </a:endParaRPr>
            </a:p>
          </p:txBody>
        </p:sp>
        <p:sp>
          <p:nvSpPr>
            <p:cNvPr id="6" name="Rectangle: Rounded Corners 5">
              <a:extLst>
                <a:ext uri="{FF2B5EF4-FFF2-40B4-BE49-F238E27FC236}">
                  <a16:creationId xmlns:a16="http://schemas.microsoft.com/office/drawing/2014/main" id="{FCDE2A2B-994D-9C99-EAB5-BE1B90DC2301}"/>
                </a:ext>
              </a:extLst>
            </p:cNvPr>
            <p:cNvSpPr/>
            <p:nvPr/>
          </p:nvSpPr>
          <p:spPr>
            <a:xfrm>
              <a:off x="8135815" y="4232436"/>
              <a:ext cx="1875693" cy="742774"/>
            </a:xfrm>
            <a:prstGeom prst="roundRect">
              <a:avLst>
                <a:gd name="adj" fmla="val 5303"/>
              </a:avLst>
            </a:prstGeom>
            <a:solidFill>
              <a:schemeClr val="tx1">
                <a:lumMod val="40000"/>
                <a:lumOff val="60000"/>
              </a:schemeClr>
            </a:solidFill>
            <a:ln>
              <a:solidFill>
                <a:schemeClr val="accent6">
                  <a:lumMod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000000"/>
                  </a:solidFill>
                </a:rPr>
                <a:t>Visualization</a:t>
              </a:r>
              <a:endParaRPr lang="en-IN" dirty="0">
                <a:solidFill>
                  <a:srgbClr val="000000"/>
                </a:solidFill>
              </a:endParaRPr>
            </a:p>
          </p:txBody>
        </p:sp>
        <p:sp>
          <p:nvSpPr>
            <p:cNvPr id="7" name="Rectangle: Rounded Corners 6">
              <a:extLst>
                <a:ext uri="{FF2B5EF4-FFF2-40B4-BE49-F238E27FC236}">
                  <a16:creationId xmlns:a16="http://schemas.microsoft.com/office/drawing/2014/main" id="{CB17BBFB-56CF-BFDA-C6DA-9C129CE98695}"/>
                </a:ext>
              </a:extLst>
            </p:cNvPr>
            <p:cNvSpPr/>
            <p:nvPr/>
          </p:nvSpPr>
          <p:spPr>
            <a:xfrm>
              <a:off x="8135815" y="5363916"/>
              <a:ext cx="1875693" cy="742774"/>
            </a:xfrm>
            <a:prstGeom prst="roundRect">
              <a:avLst>
                <a:gd name="adj" fmla="val 5303"/>
              </a:avLst>
            </a:prstGeom>
            <a:solidFill>
              <a:schemeClr val="tx1">
                <a:lumMod val="40000"/>
                <a:lumOff val="60000"/>
              </a:schemeClr>
            </a:solidFill>
            <a:ln>
              <a:solidFill>
                <a:schemeClr val="accent6">
                  <a:lumMod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000000"/>
                  </a:solidFill>
                </a:rPr>
                <a:t>Insights</a:t>
              </a:r>
              <a:endParaRPr lang="en-IN" dirty="0">
                <a:solidFill>
                  <a:srgbClr val="000000"/>
                </a:solidFill>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F2937"/>
        </a:solidFill>
        <a:effectLst/>
      </p:bgPr>
    </p:bg>
    <p:spTree>
      <p:nvGrpSpPr>
        <p:cNvPr id="1" name="Shape 141"/>
        <p:cNvGrpSpPr/>
        <p:nvPr/>
      </p:nvGrpSpPr>
      <p:grpSpPr>
        <a:xfrm>
          <a:off x="0" y="0"/>
          <a:ext cx="0" cy="0"/>
          <a:chOff x="0" y="0"/>
          <a:chExt cx="0" cy="0"/>
        </a:xfrm>
      </p:grpSpPr>
      <p:pic>
        <p:nvPicPr>
          <p:cNvPr id="142" name="Google Shape;142;p18"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43" name="Google Shape;143;p18" descr="image.png"/>
          <p:cNvPicPr preferRelativeResize="0"/>
          <p:nvPr/>
        </p:nvPicPr>
        <p:blipFill rotWithShape="1">
          <a:blip r:embed="rId4">
            <a:alphaModFix/>
          </a:blip>
          <a:srcRect/>
          <a:stretch/>
        </p:blipFill>
        <p:spPr>
          <a:xfrm>
            <a:off x="6334125" y="1690687"/>
            <a:ext cx="5286375" cy="4572000"/>
          </a:xfrm>
          <a:prstGeom prst="rect">
            <a:avLst/>
          </a:prstGeom>
          <a:noFill/>
          <a:ln>
            <a:noFill/>
          </a:ln>
        </p:spPr>
      </p:pic>
      <p:sp>
        <p:nvSpPr>
          <p:cNvPr id="144" name="Google Shape;144;p18"/>
          <p:cNvSpPr txBox="1"/>
          <p:nvPr/>
        </p:nvSpPr>
        <p:spPr>
          <a:xfrm>
            <a:off x="952500" y="1992213"/>
            <a:ext cx="4905375" cy="670321"/>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50" b="0" i="0" u="none" strike="noStrike" cap="none">
                <a:solidFill>
                  <a:srgbClr val="E5E7EB"/>
                </a:solidFill>
                <a:latin typeface="Lato"/>
                <a:ea typeface="Lato"/>
                <a:cs typeface="Lato"/>
                <a:sym typeface="Lato"/>
              </a:rPr>
              <a:t>Voice calls constitute the primary revenue driver for the platform.</a:t>
            </a:r>
            <a:endParaRPr/>
          </a:p>
        </p:txBody>
      </p:sp>
      <p:sp>
        <p:nvSpPr>
          <p:cNvPr id="145" name="Google Shape;145;p18"/>
          <p:cNvSpPr txBox="1"/>
          <p:nvPr/>
        </p:nvSpPr>
        <p:spPr>
          <a:xfrm>
            <a:off x="952500" y="2900660"/>
            <a:ext cx="4905375" cy="670321"/>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50" b="0" i="0" u="none" strike="noStrike" cap="none">
                <a:solidFill>
                  <a:srgbClr val="E5E7EB"/>
                </a:solidFill>
                <a:latin typeface="Lato"/>
                <a:ea typeface="Lato"/>
                <a:cs typeface="Lato"/>
                <a:sym typeface="Lato"/>
              </a:rPr>
              <a:t>Calls contribute approximately </a:t>
            </a:r>
            <a:r>
              <a:rPr lang="en-US" sz="1650" b="1" i="0" u="none" strike="noStrike" cap="none">
                <a:solidFill>
                  <a:srgbClr val="E5E7EB"/>
                </a:solidFill>
                <a:latin typeface="Lato"/>
                <a:ea typeface="Lato"/>
                <a:cs typeface="Lato"/>
                <a:sym typeface="Lato"/>
              </a:rPr>
              <a:t>79% of total earnings</a:t>
            </a:r>
            <a:r>
              <a:rPr lang="en-US" sz="1650" b="0" i="0" u="none" strike="noStrike" cap="none">
                <a:solidFill>
                  <a:srgbClr val="E5E7EB"/>
                </a:solidFill>
                <a:latin typeface="Lato"/>
                <a:ea typeface="Lato"/>
                <a:cs typeface="Lato"/>
                <a:sym typeface="Lato"/>
              </a:rPr>
              <a:t>.</a:t>
            </a:r>
            <a:endParaRPr/>
          </a:p>
        </p:txBody>
      </p:sp>
      <p:sp>
        <p:nvSpPr>
          <p:cNvPr id="146" name="Google Shape;146;p18"/>
          <p:cNvSpPr txBox="1"/>
          <p:nvPr/>
        </p:nvSpPr>
        <p:spPr>
          <a:xfrm>
            <a:off x="952500" y="3809107"/>
            <a:ext cx="4905375" cy="670321"/>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50" b="0" i="0" u="none" strike="noStrike" cap="none">
                <a:solidFill>
                  <a:srgbClr val="E5E7EB"/>
                </a:solidFill>
                <a:latin typeface="Lato"/>
                <a:ea typeface="Lato"/>
                <a:cs typeface="Lato"/>
                <a:sym typeface="Lato"/>
              </a:rPr>
              <a:t>Chat consultations make up a significantly smaller portion (21%) of the revenue stream.</a:t>
            </a:r>
            <a:endParaRPr/>
          </a:p>
        </p:txBody>
      </p:sp>
      <p:sp>
        <p:nvSpPr>
          <p:cNvPr id="147" name="Google Shape;147;p18"/>
          <p:cNvSpPr txBox="1"/>
          <p:nvPr/>
        </p:nvSpPr>
        <p:spPr>
          <a:xfrm>
            <a:off x="952500" y="4717553"/>
            <a:ext cx="4905375" cy="1005482"/>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50" b="0" i="0" u="none" strike="noStrike" cap="none">
                <a:solidFill>
                  <a:srgbClr val="E5E7EB"/>
                </a:solidFill>
                <a:latin typeface="Lato"/>
                <a:ea typeface="Lato"/>
                <a:cs typeface="Lato"/>
                <a:sym typeface="Lato"/>
              </a:rPr>
              <a:t>Optimizing the voice call experience and infrastructure is crucial for protecting baseline profitability.</a:t>
            </a:r>
            <a:endParaRPr/>
          </a:p>
        </p:txBody>
      </p:sp>
      <p:sp>
        <p:nvSpPr>
          <p:cNvPr id="148" name="Google Shape;148;p18"/>
          <p:cNvSpPr txBox="1"/>
          <p:nvPr/>
        </p:nvSpPr>
        <p:spPr>
          <a:xfrm>
            <a:off x="571500" y="571500"/>
            <a:ext cx="11601450" cy="6191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0" i="0" u="none" strike="noStrike" cap="none">
                <a:solidFill>
                  <a:srgbClr val="FACC15"/>
                </a:solidFill>
                <a:latin typeface="Poppins SemiBold"/>
                <a:ea typeface="Poppins SemiBold"/>
                <a:cs typeface="Poppins SemiBold"/>
                <a:sym typeface="Poppins SemiBold"/>
              </a:rPr>
              <a:t>Revenue by Consultation Type</a:t>
            </a:r>
            <a:endParaRPr/>
          </a:p>
        </p:txBody>
      </p:sp>
      <p:sp>
        <p:nvSpPr>
          <p:cNvPr id="149" name="Google Shape;149;p18"/>
          <p:cNvSpPr/>
          <p:nvPr/>
        </p:nvSpPr>
        <p:spPr>
          <a:xfrm>
            <a:off x="571500" y="1266825"/>
            <a:ext cx="11049000" cy="19050"/>
          </a:xfrm>
          <a:prstGeom prst="rect">
            <a:avLst/>
          </a:prstGeom>
          <a:solidFill>
            <a:srgbClr val="37415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150" name="Google Shape;150;p18" descr="image.png"/>
          <p:cNvPicPr preferRelativeResize="0"/>
          <p:nvPr/>
        </p:nvPicPr>
        <p:blipFill rotWithShape="1">
          <a:blip r:embed="rId5">
            <a:alphaModFix/>
          </a:blip>
          <a:srcRect/>
          <a:stretch/>
        </p:blipFill>
        <p:spPr>
          <a:xfrm>
            <a:off x="571500" y="2011263"/>
            <a:ext cx="142875" cy="247650"/>
          </a:xfrm>
          <a:prstGeom prst="rect">
            <a:avLst/>
          </a:prstGeom>
          <a:noFill/>
          <a:ln>
            <a:noFill/>
          </a:ln>
        </p:spPr>
      </p:pic>
      <p:pic>
        <p:nvPicPr>
          <p:cNvPr id="151" name="Google Shape;151;p18" descr="image.png"/>
          <p:cNvPicPr preferRelativeResize="0"/>
          <p:nvPr/>
        </p:nvPicPr>
        <p:blipFill rotWithShape="1">
          <a:blip r:embed="rId5">
            <a:alphaModFix/>
          </a:blip>
          <a:srcRect/>
          <a:stretch/>
        </p:blipFill>
        <p:spPr>
          <a:xfrm>
            <a:off x="571500" y="2919710"/>
            <a:ext cx="142875" cy="247650"/>
          </a:xfrm>
          <a:prstGeom prst="rect">
            <a:avLst/>
          </a:prstGeom>
          <a:noFill/>
          <a:ln>
            <a:noFill/>
          </a:ln>
        </p:spPr>
      </p:pic>
      <p:pic>
        <p:nvPicPr>
          <p:cNvPr id="152" name="Google Shape;152;p18" descr="image.png"/>
          <p:cNvPicPr preferRelativeResize="0"/>
          <p:nvPr/>
        </p:nvPicPr>
        <p:blipFill rotWithShape="1">
          <a:blip r:embed="rId5">
            <a:alphaModFix/>
          </a:blip>
          <a:srcRect/>
          <a:stretch/>
        </p:blipFill>
        <p:spPr>
          <a:xfrm>
            <a:off x="571500" y="3828157"/>
            <a:ext cx="142875" cy="247650"/>
          </a:xfrm>
          <a:prstGeom prst="rect">
            <a:avLst/>
          </a:prstGeom>
          <a:noFill/>
          <a:ln>
            <a:noFill/>
          </a:ln>
        </p:spPr>
      </p:pic>
      <p:pic>
        <p:nvPicPr>
          <p:cNvPr id="153" name="Google Shape;153;p18" descr="image.png"/>
          <p:cNvPicPr preferRelativeResize="0"/>
          <p:nvPr/>
        </p:nvPicPr>
        <p:blipFill rotWithShape="1">
          <a:blip r:embed="rId5">
            <a:alphaModFix/>
          </a:blip>
          <a:srcRect/>
          <a:stretch/>
        </p:blipFill>
        <p:spPr>
          <a:xfrm>
            <a:off x="571500" y="4736603"/>
            <a:ext cx="142875" cy="247650"/>
          </a:xfrm>
          <a:prstGeom prst="rect">
            <a:avLst/>
          </a:prstGeom>
          <a:noFill/>
          <a:ln>
            <a:noFill/>
          </a:ln>
        </p:spPr>
      </p:pic>
      <p:pic>
        <p:nvPicPr>
          <p:cNvPr id="4" name="Picture 3">
            <a:extLst>
              <a:ext uri="{FF2B5EF4-FFF2-40B4-BE49-F238E27FC236}">
                <a16:creationId xmlns:a16="http://schemas.microsoft.com/office/drawing/2014/main" id="{0B552740-28F7-2B1E-32E5-754502D03DE2}"/>
              </a:ext>
            </a:extLst>
          </p:cNvPr>
          <p:cNvPicPr>
            <a:picLocks noChangeAspect="1"/>
          </p:cNvPicPr>
          <p:nvPr/>
        </p:nvPicPr>
        <p:blipFill>
          <a:blip r:embed="rId6"/>
          <a:stretch>
            <a:fillRect/>
          </a:stretch>
        </p:blipFill>
        <p:spPr>
          <a:xfrm>
            <a:off x="6288918" y="1690687"/>
            <a:ext cx="5331582" cy="4572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F2937"/>
        </a:solidFill>
        <a:effectLst/>
      </p:bgPr>
    </p:bg>
    <p:spTree>
      <p:nvGrpSpPr>
        <p:cNvPr id="1" name="Shape 157"/>
        <p:cNvGrpSpPr/>
        <p:nvPr/>
      </p:nvGrpSpPr>
      <p:grpSpPr>
        <a:xfrm>
          <a:off x="0" y="0"/>
          <a:ext cx="0" cy="0"/>
          <a:chOff x="0" y="0"/>
          <a:chExt cx="0" cy="0"/>
        </a:xfrm>
      </p:grpSpPr>
      <p:pic>
        <p:nvPicPr>
          <p:cNvPr id="158" name="Google Shape;158;p19"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59" name="Google Shape;159;p19" descr="image.png"/>
          <p:cNvPicPr preferRelativeResize="0"/>
          <p:nvPr/>
        </p:nvPicPr>
        <p:blipFill rotWithShape="1">
          <a:blip r:embed="rId4">
            <a:alphaModFix/>
          </a:blip>
          <a:srcRect/>
          <a:stretch/>
        </p:blipFill>
        <p:spPr>
          <a:xfrm>
            <a:off x="6334125" y="1690687"/>
            <a:ext cx="5286375" cy="4572000"/>
          </a:xfrm>
          <a:prstGeom prst="rect">
            <a:avLst/>
          </a:prstGeom>
          <a:noFill/>
          <a:ln>
            <a:noFill/>
          </a:ln>
        </p:spPr>
      </p:pic>
      <p:sp>
        <p:nvSpPr>
          <p:cNvPr id="160" name="Google Shape;160;p19"/>
          <p:cNvSpPr txBox="1"/>
          <p:nvPr/>
        </p:nvSpPr>
        <p:spPr>
          <a:xfrm>
            <a:off x="952500" y="1992213"/>
            <a:ext cx="4905375" cy="670321"/>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50" b="0" i="0" u="none" strike="noStrike" cap="none">
                <a:solidFill>
                  <a:srgbClr val="E5E7EB"/>
                </a:solidFill>
                <a:latin typeface="Lato"/>
                <a:ea typeface="Lato"/>
                <a:cs typeface="Lato"/>
                <a:sym typeface="Lato"/>
              </a:rPr>
              <a:t>The mobile app dominates revenue generation, capturing </a:t>
            </a:r>
            <a:r>
              <a:rPr lang="en-US" sz="1650" b="1" i="0" u="none" strike="noStrike" cap="none">
                <a:solidFill>
                  <a:srgbClr val="E5E7EB"/>
                </a:solidFill>
                <a:latin typeface="Lato"/>
                <a:ea typeface="Lato"/>
                <a:cs typeface="Lato"/>
                <a:sym typeface="Lato"/>
              </a:rPr>
              <a:t>59% of total platform income</a:t>
            </a:r>
            <a:r>
              <a:rPr lang="en-US" sz="1650" b="0" i="0" u="none" strike="noStrike" cap="none">
                <a:solidFill>
                  <a:srgbClr val="E5E7EB"/>
                </a:solidFill>
                <a:latin typeface="Lato"/>
                <a:ea typeface="Lato"/>
                <a:cs typeface="Lato"/>
                <a:sym typeface="Lato"/>
              </a:rPr>
              <a:t>.</a:t>
            </a:r>
            <a:endParaRPr/>
          </a:p>
        </p:txBody>
      </p:sp>
      <p:sp>
        <p:nvSpPr>
          <p:cNvPr id="161" name="Google Shape;161;p19"/>
          <p:cNvSpPr txBox="1"/>
          <p:nvPr/>
        </p:nvSpPr>
        <p:spPr>
          <a:xfrm>
            <a:off x="952500" y="2900660"/>
            <a:ext cx="4905375" cy="670321"/>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50" b="0" i="0" u="none" strike="noStrike" cap="none">
                <a:solidFill>
                  <a:srgbClr val="E5E7EB"/>
                </a:solidFill>
                <a:latin typeface="Lato"/>
                <a:ea typeface="Lato"/>
                <a:cs typeface="Lato"/>
                <a:sym typeface="Lato"/>
              </a:rPr>
              <a:t>The GuruCool web platform trails behind, contributing 41%.</a:t>
            </a:r>
            <a:endParaRPr/>
          </a:p>
        </p:txBody>
      </p:sp>
      <p:sp>
        <p:nvSpPr>
          <p:cNvPr id="162" name="Google Shape;162;p19"/>
          <p:cNvSpPr txBox="1"/>
          <p:nvPr/>
        </p:nvSpPr>
        <p:spPr>
          <a:xfrm>
            <a:off x="952500" y="3809107"/>
            <a:ext cx="4905375" cy="670321"/>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50" b="0" i="0" u="none" strike="noStrike" cap="none">
                <a:solidFill>
                  <a:srgbClr val="E5E7EB"/>
                </a:solidFill>
                <a:latin typeface="Lato"/>
                <a:ea typeface="Lato"/>
                <a:cs typeface="Lato"/>
                <a:sym typeface="Lato"/>
              </a:rPr>
              <a:t>These disparities highlight distinct user preferences in how they access AstroSage services.</a:t>
            </a:r>
            <a:endParaRPr/>
          </a:p>
        </p:txBody>
      </p:sp>
      <p:sp>
        <p:nvSpPr>
          <p:cNvPr id="163" name="Google Shape;163;p19"/>
          <p:cNvSpPr txBox="1"/>
          <p:nvPr/>
        </p:nvSpPr>
        <p:spPr>
          <a:xfrm>
            <a:off x="952500" y="4717553"/>
            <a:ext cx="4905375" cy="1005482"/>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50" b="0" i="0" u="none" strike="noStrike" cap="none">
                <a:solidFill>
                  <a:srgbClr val="E5E7EB"/>
                </a:solidFill>
                <a:latin typeface="Lato"/>
                <a:ea typeface="Lato"/>
                <a:cs typeface="Lato"/>
                <a:sym typeface="Lato"/>
              </a:rPr>
              <a:t>Significant opportunities exist to boost engagement and optimize the user journey on the GuruCool platform.</a:t>
            </a:r>
            <a:endParaRPr/>
          </a:p>
        </p:txBody>
      </p:sp>
      <p:sp>
        <p:nvSpPr>
          <p:cNvPr id="164" name="Google Shape;164;p19"/>
          <p:cNvSpPr txBox="1"/>
          <p:nvPr/>
        </p:nvSpPr>
        <p:spPr>
          <a:xfrm>
            <a:off x="571500" y="571500"/>
            <a:ext cx="11601450" cy="6191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0" i="0" u="none" strike="noStrike" cap="none">
                <a:solidFill>
                  <a:srgbClr val="FACC15"/>
                </a:solidFill>
                <a:latin typeface="Poppins SemiBold"/>
                <a:ea typeface="Poppins SemiBold"/>
                <a:cs typeface="Poppins SemiBold"/>
                <a:sym typeface="Poppins SemiBold"/>
              </a:rPr>
              <a:t>Revenue Distribution by Platform</a:t>
            </a:r>
            <a:endParaRPr/>
          </a:p>
        </p:txBody>
      </p:sp>
      <p:sp>
        <p:nvSpPr>
          <p:cNvPr id="165" name="Google Shape;165;p19"/>
          <p:cNvSpPr/>
          <p:nvPr/>
        </p:nvSpPr>
        <p:spPr>
          <a:xfrm>
            <a:off x="571500" y="1266825"/>
            <a:ext cx="11049000" cy="19050"/>
          </a:xfrm>
          <a:prstGeom prst="rect">
            <a:avLst/>
          </a:prstGeom>
          <a:solidFill>
            <a:srgbClr val="37415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166" name="Google Shape;166;p19" descr="image.png"/>
          <p:cNvPicPr preferRelativeResize="0"/>
          <p:nvPr/>
        </p:nvPicPr>
        <p:blipFill rotWithShape="1">
          <a:blip r:embed="rId5">
            <a:alphaModFix/>
          </a:blip>
          <a:srcRect/>
          <a:stretch/>
        </p:blipFill>
        <p:spPr>
          <a:xfrm>
            <a:off x="571500" y="2011263"/>
            <a:ext cx="142875" cy="247650"/>
          </a:xfrm>
          <a:prstGeom prst="rect">
            <a:avLst/>
          </a:prstGeom>
          <a:noFill/>
          <a:ln>
            <a:noFill/>
          </a:ln>
        </p:spPr>
      </p:pic>
      <p:pic>
        <p:nvPicPr>
          <p:cNvPr id="167" name="Google Shape;167;p19" descr="image.png"/>
          <p:cNvPicPr preferRelativeResize="0"/>
          <p:nvPr/>
        </p:nvPicPr>
        <p:blipFill rotWithShape="1">
          <a:blip r:embed="rId5">
            <a:alphaModFix/>
          </a:blip>
          <a:srcRect/>
          <a:stretch/>
        </p:blipFill>
        <p:spPr>
          <a:xfrm>
            <a:off x="571500" y="2919710"/>
            <a:ext cx="142875" cy="247650"/>
          </a:xfrm>
          <a:prstGeom prst="rect">
            <a:avLst/>
          </a:prstGeom>
          <a:noFill/>
          <a:ln>
            <a:noFill/>
          </a:ln>
        </p:spPr>
      </p:pic>
      <p:pic>
        <p:nvPicPr>
          <p:cNvPr id="168" name="Google Shape;168;p19" descr="image.png"/>
          <p:cNvPicPr preferRelativeResize="0"/>
          <p:nvPr/>
        </p:nvPicPr>
        <p:blipFill rotWithShape="1">
          <a:blip r:embed="rId5">
            <a:alphaModFix/>
          </a:blip>
          <a:srcRect/>
          <a:stretch/>
        </p:blipFill>
        <p:spPr>
          <a:xfrm>
            <a:off x="571500" y="3828157"/>
            <a:ext cx="142875" cy="247650"/>
          </a:xfrm>
          <a:prstGeom prst="rect">
            <a:avLst/>
          </a:prstGeom>
          <a:noFill/>
          <a:ln>
            <a:noFill/>
          </a:ln>
        </p:spPr>
      </p:pic>
      <p:pic>
        <p:nvPicPr>
          <p:cNvPr id="169" name="Google Shape;169;p19" descr="image.png"/>
          <p:cNvPicPr preferRelativeResize="0"/>
          <p:nvPr/>
        </p:nvPicPr>
        <p:blipFill rotWithShape="1">
          <a:blip r:embed="rId5">
            <a:alphaModFix/>
          </a:blip>
          <a:srcRect/>
          <a:stretch/>
        </p:blipFill>
        <p:spPr>
          <a:xfrm>
            <a:off x="571500" y="4736603"/>
            <a:ext cx="142875" cy="247650"/>
          </a:xfrm>
          <a:prstGeom prst="rect">
            <a:avLst/>
          </a:prstGeom>
          <a:noFill/>
          <a:ln>
            <a:noFill/>
          </a:ln>
        </p:spPr>
      </p:pic>
      <p:pic>
        <p:nvPicPr>
          <p:cNvPr id="4" name="Picture 3">
            <a:extLst>
              <a:ext uri="{FF2B5EF4-FFF2-40B4-BE49-F238E27FC236}">
                <a16:creationId xmlns:a16="http://schemas.microsoft.com/office/drawing/2014/main" id="{F5F4177E-C4EF-C9A3-4C7B-56C6305C2319}"/>
              </a:ext>
            </a:extLst>
          </p:cNvPr>
          <p:cNvPicPr>
            <a:picLocks noChangeAspect="1"/>
          </p:cNvPicPr>
          <p:nvPr/>
        </p:nvPicPr>
        <p:blipFill>
          <a:blip r:embed="rId6"/>
          <a:stretch>
            <a:fillRect/>
          </a:stretch>
        </p:blipFill>
        <p:spPr>
          <a:xfrm>
            <a:off x="6334124" y="1690687"/>
            <a:ext cx="5286375" cy="4571999"/>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F2937"/>
        </a:solidFill>
        <a:effectLst/>
      </p:bgPr>
    </p:bg>
    <p:spTree>
      <p:nvGrpSpPr>
        <p:cNvPr id="1" name="Shape 173"/>
        <p:cNvGrpSpPr/>
        <p:nvPr/>
      </p:nvGrpSpPr>
      <p:grpSpPr>
        <a:xfrm>
          <a:off x="0" y="0"/>
          <a:ext cx="0" cy="0"/>
          <a:chOff x="0" y="0"/>
          <a:chExt cx="0" cy="0"/>
        </a:xfrm>
      </p:grpSpPr>
      <p:pic>
        <p:nvPicPr>
          <p:cNvPr id="174" name="Google Shape;174;p20"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75" name="Google Shape;175;p20" descr="image.png"/>
          <p:cNvPicPr preferRelativeResize="0"/>
          <p:nvPr/>
        </p:nvPicPr>
        <p:blipFill rotWithShape="1">
          <a:blip r:embed="rId4">
            <a:alphaModFix/>
          </a:blip>
          <a:srcRect/>
          <a:stretch/>
        </p:blipFill>
        <p:spPr>
          <a:xfrm>
            <a:off x="6334125" y="1690687"/>
            <a:ext cx="5286375" cy="4572000"/>
          </a:xfrm>
          <a:prstGeom prst="rect">
            <a:avLst/>
          </a:prstGeom>
          <a:noFill/>
          <a:ln>
            <a:noFill/>
          </a:ln>
        </p:spPr>
      </p:pic>
      <p:sp>
        <p:nvSpPr>
          <p:cNvPr id="176" name="Google Shape;176;p20"/>
          <p:cNvSpPr txBox="1"/>
          <p:nvPr/>
        </p:nvSpPr>
        <p:spPr>
          <a:xfrm>
            <a:off x="952500" y="2159793"/>
            <a:ext cx="4905375" cy="670321"/>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50" b="0" i="0" u="none" strike="noStrike" cap="none" dirty="0">
                <a:solidFill>
                  <a:srgbClr val="E5E7EB"/>
                </a:solidFill>
                <a:latin typeface="Lato"/>
                <a:ea typeface="Lato"/>
                <a:cs typeface="Lato"/>
                <a:sym typeface="Lato"/>
              </a:rPr>
              <a:t>'On-call' chats represent the largest active share of interactions at 30%.</a:t>
            </a:r>
            <a:endParaRPr dirty="0"/>
          </a:p>
        </p:txBody>
      </p:sp>
      <p:sp>
        <p:nvSpPr>
          <p:cNvPr id="177" name="Google Shape;177;p20"/>
          <p:cNvSpPr txBox="1"/>
          <p:nvPr/>
        </p:nvSpPr>
        <p:spPr>
          <a:xfrm>
            <a:off x="952500" y="3068240"/>
            <a:ext cx="4905375" cy="670321"/>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50" b="0" i="0" u="none" strike="noStrike" cap="none">
                <a:solidFill>
                  <a:srgbClr val="E5E7EB"/>
                </a:solidFill>
                <a:latin typeface="Lato"/>
                <a:ea typeface="Lato"/>
                <a:cs typeface="Lato"/>
                <a:sym typeface="Lato"/>
              </a:rPr>
              <a:t>A highly concerning portion of chats end up as </a:t>
            </a:r>
            <a:r>
              <a:rPr lang="en-US" sz="1650" b="1" i="0" u="none" strike="noStrike" cap="none">
                <a:solidFill>
                  <a:srgbClr val="E5E7EB"/>
                </a:solidFill>
                <a:latin typeface="Lato"/>
                <a:ea typeface="Lato"/>
                <a:cs typeface="Lato"/>
                <a:sym typeface="Lato"/>
              </a:rPr>
              <a:t>'Failed' (26%)</a:t>
            </a:r>
            <a:r>
              <a:rPr lang="en-US" sz="1650" b="0" i="0" u="none" strike="noStrike" cap="none">
                <a:solidFill>
                  <a:srgbClr val="E5E7EB"/>
                </a:solidFill>
                <a:latin typeface="Lato"/>
                <a:ea typeface="Lato"/>
                <a:cs typeface="Lato"/>
                <a:sym typeface="Lato"/>
              </a:rPr>
              <a:t> or </a:t>
            </a:r>
            <a:r>
              <a:rPr lang="en-US" sz="1650" b="1" i="0" u="none" strike="noStrike" cap="none">
                <a:solidFill>
                  <a:srgbClr val="E5E7EB"/>
                </a:solidFill>
                <a:latin typeface="Lato"/>
                <a:ea typeface="Lato"/>
                <a:cs typeface="Lato"/>
                <a:sym typeface="Lato"/>
              </a:rPr>
              <a:t>'Incomplete' (24%)</a:t>
            </a:r>
            <a:r>
              <a:rPr lang="en-US" sz="1650" b="0" i="0" u="none" strike="noStrike" cap="none">
                <a:solidFill>
                  <a:srgbClr val="E5E7EB"/>
                </a:solidFill>
                <a:latin typeface="Lato"/>
                <a:ea typeface="Lato"/>
                <a:cs typeface="Lato"/>
                <a:sym typeface="Lato"/>
              </a:rPr>
              <a:t>.</a:t>
            </a:r>
            <a:endParaRPr/>
          </a:p>
        </p:txBody>
      </p:sp>
      <p:sp>
        <p:nvSpPr>
          <p:cNvPr id="178" name="Google Shape;178;p20"/>
          <p:cNvSpPr txBox="1"/>
          <p:nvPr/>
        </p:nvSpPr>
        <p:spPr>
          <a:xfrm>
            <a:off x="952500" y="3976687"/>
            <a:ext cx="4905375" cy="670321"/>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50" b="0" i="0" u="none" strike="noStrike" cap="none">
                <a:solidFill>
                  <a:srgbClr val="E5E7EB"/>
                </a:solidFill>
                <a:latin typeface="Lato"/>
                <a:ea typeface="Lato"/>
                <a:cs typeface="Lato"/>
                <a:sym typeface="Lato"/>
              </a:rPr>
              <a:t>Successfully 'Completed' chats represent only 20% of the total volume.</a:t>
            </a:r>
            <a:endParaRPr/>
          </a:p>
        </p:txBody>
      </p:sp>
      <p:sp>
        <p:nvSpPr>
          <p:cNvPr id="179" name="Google Shape;179;p20"/>
          <p:cNvSpPr txBox="1"/>
          <p:nvPr/>
        </p:nvSpPr>
        <p:spPr>
          <a:xfrm>
            <a:off x="952500" y="4885134"/>
            <a:ext cx="4905375" cy="670321"/>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50" b="0" i="0" u="none" strike="noStrike" cap="none">
                <a:solidFill>
                  <a:srgbClr val="E5E7EB"/>
                </a:solidFill>
                <a:latin typeface="Lato"/>
                <a:ea typeface="Lato"/>
                <a:cs typeface="Lato"/>
                <a:sym typeface="Lato"/>
              </a:rPr>
              <a:t>Resolving technical interruptions and connectivity issues is urgently required to improve chat reliability.</a:t>
            </a:r>
            <a:endParaRPr/>
          </a:p>
        </p:txBody>
      </p:sp>
      <p:sp>
        <p:nvSpPr>
          <p:cNvPr id="180" name="Google Shape;180;p20"/>
          <p:cNvSpPr txBox="1"/>
          <p:nvPr/>
        </p:nvSpPr>
        <p:spPr>
          <a:xfrm>
            <a:off x="571500" y="571500"/>
            <a:ext cx="11601450" cy="6191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0" i="0" u="none" strike="noStrike" cap="none">
                <a:solidFill>
                  <a:srgbClr val="FACC15"/>
                </a:solidFill>
                <a:latin typeface="Poppins SemiBold"/>
                <a:ea typeface="Poppins SemiBold"/>
                <a:cs typeface="Poppins SemiBold"/>
                <a:sym typeface="Poppins SemiBold"/>
              </a:rPr>
              <a:t>Chat Status Distribution</a:t>
            </a:r>
            <a:endParaRPr/>
          </a:p>
        </p:txBody>
      </p:sp>
      <p:sp>
        <p:nvSpPr>
          <p:cNvPr id="181" name="Google Shape;181;p20"/>
          <p:cNvSpPr/>
          <p:nvPr/>
        </p:nvSpPr>
        <p:spPr>
          <a:xfrm>
            <a:off x="571500" y="1266825"/>
            <a:ext cx="11049000" cy="19050"/>
          </a:xfrm>
          <a:prstGeom prst="rect">
            <a:avLst/>
          </a:prstGeom>
          <a:solidFill>
            <a:srgbClr val="37415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182" name="Google Shape;182;p20" descr="image.png"/>
          <p:cNvPicPr preferRelativeResize="0"/>
          <p:nvPr/>
        </p:nvPicPr>
        <p:blipFill rotWithShape="1">
          <a:blip r:embed="rId5">
            <a:alphaModFix/>
          </a:blip>
          <a:srcRect/>
          <a:stretch/>
        </p:blipFill>
        <p:spPr>
          <a:xfrm>
            <a:off x="571500" y="2178843"/>
            <a:ext cx="142875" cy="247650"/>
          </a:xfrm>
          <a:prstGeom prst="rect">
            <a:avLst/>
          </a:prstGeom>
          <a:noFill/>
          <a:ln>
            <a:noFill/>
          </a:ln>
        </p:spPr>
      </p:pic>
      <p:pic>
        <p:nvPicPr>
          <p:cNvPr id="183" name="Google Shape;183;p20" descr="image.png"/>
          <p:cNvPicPr preferRelativeResize="0"/>
          <p:nvPr/>
        </p:nvPicPr>
        <p:blipFill rotWithShape="1">
          <a:blip r:embed="rId5">
            <a:alphaModFix/>
          </a:blip>
          <a:srcRect/>
          <a:stretch/>
        </p:blipFill>
        <p:spPr>
          <a:xfrm>
            <a:off x="571500" y="3087290"/>
            <a:ext cx="142875" cy="247650"/>
          </a:xfrm>
          <a:prstGeom prst="rect">
            <a:avLst/>
          </a:prstGeom>
          <a:noFill/>
          <a:ln>
            <a:noFill/>
          </a:ln>
        </p:spPr>
      </p:pic>
      <p:pic>
        <p:nvPicPr>
          <p:cNvPr id="184" name="Google Shape;184;p20" descr="image.png"/>
          <p:cNvPicPr preferRelativeResize="0"/>
          <p:nvPr/>
        </p:nvPicPr>
        <p:blipFill rotWithShape="1">
          <a:blip r:embed="rId5">
            <a:alphaModFix/>
          </a:blip>
          <a:srcRect/>
          <a:stretch/>
        </p:blipFill>
        <p:spPr>
          <a:xfrm>
            <a:off x="571500" y="3995737"/>
            <a:ext cx="142875" cy="247650"/>
          </a:xfrm>
          <a:prstGeom prst="rect">
            <a:avLst/>
          </a:prstGeom>
          <a:noFill/>
          <a:ln>
            <a:noFill/>
          </a:ln>
        </p:spPr>
      </p:pic>
      <p:pic>
        <p:nvPicPr>
          <p:cNvPr id="185" name="Google Shape;185;p20" descr="image.png"/>
          <p:cNvPicPr preferRelativeResize="0"/>
          <p:nvPr/>
        </p:nvPicPr>
        <p:blipFill rotWithShape="1">
          <a:blip r:embed="rId5">
            <a:alphaModFix/>
          </a:blip>
          <a:srcRect/>
          <a:stretch/>
        </p:blipFill>
        <p:spPr>
          <a:xfrm>
            <a:off x="571500" y="4904184"/>
            <a:ext cx="142875" cy="247650"/>
          </a:xfrm>
          <a:prstGeom prst="rect">
            <a:avLst/>
          </a:prstGeom>
          <a:noFill/>
          <a:ln>
            <a:noFill/>
          </a:ln>
        </p:spPr>
      </p:pic>
      <p:pic>
        <p:nvPicPr>
          <p:cNvPr id="3" name="Picture 2">
            <a:extLst>
              <a:ext uri="{FF2B5EF4-FFF2-40B4-BE49-F238E27FC236}">
                <a16:creationId xmlns:a16="http://schemas.microsoft.com/office/drawing/2014/main" id="{0A37C5FC-3DD6-02AF-35BE-1DFC0455F3C3}"/>
              </a:ext>
            </a:extLst>
          </p:cNvPr>
          <p:cNvPicPr>
            <a:picLocks noChangeAspect="1"/>
          </p:cNvPicPr>
          <p:nvPr/>
        </p:nvPicPr>
        <p:blipFill>
          <a:blip r:embed="rId6"/>
          <a:stretch>
            <a:fillRect/>
          </a:stretch>
        </p:blipFill>
        <p:spPr>
          <a:xfrm>
            <a:off x="6334125" y="1690687"/>
            <a:ext cx="5286375" cy="4572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F2937"/>
        </a:solidFill>
        <a:effectLst/>
      </p:bgPr>
    </p:bg>
    <p:spTree>
      <p:nvGrpSpPr>
        <p:cNvPr id="1" name="Shape 189"/>
        <p:cNvGrpSpPr/>
        <p:nvPr/>
      </p:nvGrpSpPr>
      <p:grpSpPr>
        <a:xfrm>
          <a:off x="0" y="0"/>
          <a:ext cx="0" cy="0"/>
          <a:chOff x="0" y="0"/>
          <a:chExt cx="0" cy="0"/>
        </a:xfrm>
      </p:grpSpPr>
      <p:pic>
        <p:nvPicPr>
          <p:cNvPr id="190" name="Google Shape;190;p21"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91" name="Google Shape;191;p21" descr="image.png"/>
          <p:cNvPicPr preferRelativeResize="0"/>
          <p:nvPr/>
        </p:nvPicPr>
        <p:blipFill rotWithShape="1">
          <a:blip r:embed="rId4">
            <a:alphaModFix/>
          </a:blip>
          <a:srcRect/>
          <a:stretch/>
        </p:blipFill>
        <p:spPr>
          <a:xfrm>
            <a:off x="6334125" y="1690687"/>
            <a:ext cx="5286375" cy="4572000"/>
          </a:xfrm>
          <a:prstGeom prst="rect">
            <a:avLst/>
          </a:prstGeom>
          <a:noFill/>
          <a:ln>
            <a:noFill/>
          </a:ln>
        </p:spPr>
      </p:pic>
      <p:sp>
        <p:nvSpPr>
          <p:cNvPr id="192" name="Google Shape;192;p21"/>
          <p:cNvSpPr txBox="1"/>
          <p:nvPr/>
        </p:nvSpPr>
        <p:spPr>
          <a:xfrm>
            <a:off x="952500" y="2159793"/>
            <a:ext cx="4905375" cy="670321"/>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50" b="0" i="0" u="none" strike="noStrike" cap="none">
                <a:solidFill>
                  <a:srgbClr val="E5E7EB"/>
                </a:solidFill>
                <a:latin typeface="Lato"/>
                <a:ea typeface="Lato"/>
                <a:cs typeface="Lato"/>
                <a:sym typeface="Lato"/>
              </a:rPr>
              <a:t>While a strong percentage of calls are successfully completed, inefficiencies exist in connection rates.</a:t>
            </a:r>
            <a:endParaRPr/>
          </a:p>
        </p:txBody>
      </p:sp>
      <p:sp>
        <p:nvSpPr>
          <p:cNvPr id="193" name="Google Shape;193;p21"/>
          <p:cNvSpPr txBox="1"/>
          <p:nvPr/>
        </p:nvSpPr>
        <p:spPr>
          <a:xfrm>
            <a:off x="952500" y="3068240"/>
            <a:ext cx="4905375" cy="670321"/>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50" b="0" i="0" u="none" strike="noStrike" cap="none">
                <a:solidFill>
                  <a:srgbClr val="E5E7EB"/>
                </a:solidFill>
                <a:latin typeface="Lato"/>
                <a:ea typeface="Lato"/>
                <a:cs typeface="Lato"/>
                <a:sym typeface="Lato"/>
              </a:rPr>
              <a:t>A notable volume of calls register as 'Busy' or 'No-answer', indicating potential capacity limits.</a:t>
            </a:r>
            <a:endParaRPr/>
          </a:p>
        </p:txBody>
      </p:sp>
      <p:sp>
        <p:nvSpPr>
          <p:cNvPr id="194" name="Google Shape;194;p21"/>
          <p:cNvSpPr txBox="1"/>
          <p:nvPr/>
        </p:nvSpPr>
        <p:spPr>
          <a:xfrm>
            <a:off x="952500" y="3976687"/>
            <a:ext cx="4905375" cy="670321"/>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50" b="0" i="0" u="none" strike="noStrike" cap="none">
                <a:solidFill>
                  <a:srgbClr val="E5E7EB"/>
                </a:solidFill>
                <a:latin typeface="Lato"/>
                <a:ea typeface="Lato"/>
                <a:cs typeface="Lato"/>
                <a:sym typeface="Lato"/>
              </a:rPr>
              <a:t>Failed calls directly impact customer trust and immediate revenue realization.</a:t>
            </a:r>
            <a:endParaRPr/>
          </a:p>
        </p:txBody>
      </p:sp>
      <p:sp>
        <p:nvSpPr>
          <p:cNvPr id="195" name="Google Shape;195;p21"/>
          <p:cNvSpPr txBox="1"/>
          <p:nvPr/>
        </p:nvSpPr>
        <p:spPr>
          <a:xfrm>
            <a:off x="952500" y="4885134"/>
            <a:ext cx="4905375" cy="670321"/>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50" b="0" i="0" u="none" strike="noStrike" cap="none">
                <a:solidFill>
                  <a:srgbClr val="E5E7EB"/>
                </a:solidFill>
                <a:latin typeface="Lato"/>
                <a:ea typeface="Lato"/>
                <a:cs typeface="Lato"/>
                <a:sym typeface="Lato"/>
              </a:rPr>
              <a:t>Upgrading the routing engine could significantly reduce missed connection opportunities.</a:t>
            </a:r>
            <a:endParaRPr/>
          </a:p>
        </p:txBody>
      </p:sp>
      <p:sp>
        <p:nvSpPr>
          <p:cNvPr id="196" name="Google Shape;196;p21"/>
          <p:cNvSpPr txBox="1"/>
          <p:nvPr/>
        </p:nvSpPr>
        <p:spPr>
          <a:xfrm>
            <a:off x="571500" y="571500"/>
            <a:ext cx="11601450" cy="6191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0" i="0" u="none" strike="noStrike" cap="none">
                <a:solidFill>
                  <a:srgbClr val="FACC15"/>
                </a:solidFill>
                <a:latin typeface="Poppins SemiBold"/>
                <a:ea typeface="Poppins SemiBold"/>
                <a:cs typeface="Poppins SemiBold"/>
                <a:sym typeface="Poppins SemiBold"/>
              </a:rPr>
              <a:t>Call Status Distribution</a:t>
            </a:r>
            <a:endParaRPr/>
          </a:p>
        </p:txBody>
      </p:sp>
      <p:sp>
        <p:nvSpPr>
          <p:cNvPr id="197" name="Google Shape;197;p21"/>
          <p:cNvSpPr/>
          <p:nvPr/>
        </p:nvSpPr>
        <p:spPr>
          <a:xfrm>
            <a:off x="571500" y="1266825"/>
            <a:ext cx="11049000" cy="19050"/>
          </a:xfrm>
          <a:prstGeom prst="rect">
            <a:avLst/>
          </a:prstGeom>
          <a:solidFill>
            <a:srgbClr val="37415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198" name="Google Shape;198;p21" descr="image.png"/>
          <p:cNvPicPr preferRelativeResize="0"/>
          <p:nvPr/>
        </p:nvPicPr>
        <p:blipFill rotWithShape="1">
          <a:blip r:embed="rId5">
            <a:alphaModFix/>
          </a:blip>
          <a:srcRect/>
          <a:stretch/>
        </p:blipFill>
        <p:spPr>
          <a:xfrm>
            <a:off x="571500" y="2178843"/>
            <a:ext cx="142875" cy="247650"/>
          </a:xfrm>
          <a:prstGeom prst="rect">
            <a:avLst/>
          </a:prstGeom>
          <a:noFill/>
          <a:ln>
            <a:noFill/>
          </a:ln>
        </p:spPr>
      </p:pic>
      <p:pic>
        <p:nvPicPr>
          <p:cNvPr id="199" name="Google Shape;199;p21" descr="image.png"/>
          <p:cNvPicPr preferRelativeResize="0"/>
          <p:nvPr/>
        </p:nvPicPr>
        <p:blipFill rotWithShape="1">
          <a:blip r:embed="rId5">
            <a:alphaModFix/>
          </a:blip>
          <a:srcRect/>
          <a:stretch/>
        </p:blipFill>
        <p:spPr>
          <a:xfrm>
            <a:off x="571500" y="3087290"/>
            <a:ext cx="142875" cy="247650"/>
          </a:xfrm>
          <a:prstGeom prst="rect">
            <a:avLst/>
          </a:prstGeom>
          <a:noFill/>
          <a:ln>
            <a:noFill/>
          </a:ln>
        </p:spPr>
      </p:pic>
      <p:pic>
        <p:nvPicPr>
          <p:cNvPr id="200" name="Google Shape;200;p21" descr="image.png"/>
          <p:cNvPicPr preferRelativeResize="0"/>
          <p:nvPr/>
        </p:nvPicPr>
        <p:blipFill rotWithShape="1">
          <a:blip r:embed="rId5">
            <a:alphaModFix/>
          </a:blip>
          <a:srcRect/>
          <a:stretch/>
        </p:blipFill>
        <p:spPr>
          <a:xfrm>
            <a:off x="571500" y="3995737"/>
            <a:ext cx="142875" cy="247650"/>
          </a:xfrm>
          <a:prstGeom prst="rect">
            <a:avLst/>
          </a:prstGeom>
          <a:noFill/>
          <a:ln>
            <a:noFill/>
          </a:ln>
        </p:spPr>
      </p:pic>
      <p:pic>
        <p:nvPicPr>
          <p:cNvPr id="201" name="Google Shape;201;p21" descr="image.png"/>
          <p:cNvPicPr preferRelativeResize="0"/>
          <p:nvPr/>
        </p:nvPicPr>
        <p:blipFill rotWithShape="1">
          <a:blip r:embed="rId5">
            <a:alphaModFix/>
          </a:blip>
          <a:srcRect/>
          <a:stretch/>
        </p:blipFill>
        <p:spPr>
          <a:xfrm>
            <a:off x="571500" y="4904184"/>
            <a:ext cx="142875" cy="247650"/>
          </a:xfrm>
          <a:prstGeom prst="rect">
            <a:avLst/>
          </a:prstGeom>
          <a:noFill/>
          <a:ln>
            <a:noFill/>
          </a:ln>
        </p:spPr>
      </p:pic>
      <p:pic>
        <p:nvPicPr>
          <p:cNvPr id="4" name="Picture 3">
            <a:extLst>
              <a:ext uri="{FF2B5EF4-FFF2-40B4-BE49-F238E27FC236}">
                <a16:creationId xmlns:a16="http://schemas.microsoft.com/office/drawing/2014/main" id="{7D6117CC-1E06-D90A-958B-2D8D96EA7C52}"/>
              </a:ext>
            </a:extLst>
          </p:cNvPr>
          <p:cNvPicPr>
            <a:picLocks noChangeAspect="1"/>
          </p:cNvPicPr>
          <p:nvPr/>
        </p:nvPicPr>
        <p:blipFill>
          <a:blip r:embed="rId6"/>
          <a:stretch>
            <a:fillRect/>
          </a:stretch>
        </p:blipFill>
        <p:spPr>
          <a:xfrm>
            <a:off x="6334124" y="1690687"/>
            <a:ext cx="5286376" cy="4572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F2937"/>
        </a:solidFill>
        <a:effectLst/>
      </p:bgPr>
    </p:bg>
    <p:spTree>
      <p:nvGrpSpPr>
        <p:cNvPr id="1" name="Shape 205"/>
        <p:cNvGrpSpPr/>
        <p:nvPr/>
      </p:nvGrpSpPr>
      <p:grpSpPr>
        <a:xfrm>
          <a:off x="0" y="0"/>
          <a:ext cx="0" cy="0"/>
          <a:chOff x="0" y="0"/>
          <a:chExt cx="0" cy="0"/>
        </a:xfrm>
      </p:grpSpPr>
      <p:pic>
        <p:nvPicPr>
          <p:cNvPr id="206" name="Google Shape;206;p22"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207" name="Google Shape;207;p22" descr="image.png"/>
          <p:cNvPicPr preferRelativeResize="0"/>
          <p:nvPr/>
        </p:nvPicPr>
        <p:blipFill rotWithShape="1">
          <a:blip r:embed="rId4">
            <a:alphaModFix/>
          </a:blip>
          <a:srcRect/>
          <a:stretch/>
        </p:blipFill>
        <p:spPr>
          <a:xfrm>
            <a:off x="6334125" y="1690687"/>
            <a:ext cx="5286375" cy="4572000"/>
          </a:xfrm>
          <a:prstGeom prst="rect">
            <a:avLst/>
          </a:prstGeom>
          <a:noFill/>
          <a:ln>
            <a:noFill/>
          </a:ln>
        </p:spPr>
      </p:pic>
      <p:sp>
        <p:nvSpPr>
          <p:cNvPr id="208" name="Google Shape;208;p22"/>
          <p:cNvSpPr txBox="1"/>
          <p:nvPr/>
        </p:nvSpPr>
        <p:spPr>
          <a:xfrm>
            <a:off x="952500" y="2159793"/>
            <a:ext cx="4905375" cy="670321"/>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50" b="0" i="0" u="none" strike="noStrike" cap="none">
                <a:solidFill>
                  <a:srgbClr val="E5E7EB"/>
                </a:solidFill>
                <a:latin typeface="Lato"/>
                <a:ea typeface="Lato"/>
                <a:cs typeface="Lato"/>
                <a:sym typeface="Lato"/>
              </a:rPr>
              <a:t>Consultation traffic builds steadily throughout the early morning hours.</a:t>
            </a:r>
            <a:endParaRPr/>
          </a:p>
        </p:txBody>
      </p:sp>
      <p:sp>
        <p:nvSpPr>
          <p:cNvPr id="209" name="Google Shape;209;p22"/>
          <p:cNvSpPr txBox="1"/>
          <p:nvPr/>
        </p:nvSpPr>
        <p:spPr>
          <a:xfrm>
            <a:off x="952500" y="3068240"/>
            <a:ext cx="4905375" cy="670321"/>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50" b="0" i="0" u="none" strike="noStrike" cap="none">
                <a:solidFill>
                  <a:srgbClr val="E5E7EB"/>
                </a:solidFill>
                <a:latin typeface="Lato"/>
                <a:ea typeface="Lato"/>
                <a:cs typeface="Lato"/>
                <a:sym typeface="Lato"/>
              </a:rPr>
              <a:t>Demand reaches its absolute peak during midday and early afternoon segments.</a:t>
            </a:r>
            <a:endParaRPr/>
          </a:p>
        </p:txBody>
      </p:sp>
      <p:sp>
        <p:nvSpPr>
          <p:cNvPr id="210" name="Google Shape;210;p22"/>
          <p:cNvSpPr txBox="1"/>
          <p:nvPr/>
        </p:nvSpPr>
        <p:spPr>
          <a:xfrm>
            <a:off x="952500" y="3976687"/>
            <a:ext cx="4905375" cy="670321"/>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50" b="0" i="0" u="none" strike="noStrike" cap="none">
                <a:solidFill>
                  <a:srgbClr val="E5E7EB"/>
                </a:solidFill>
                <a:latin typeface="Lato"/>
                <a:ea typeface="Lato"/>
                <a:cs typeface="Lato"/>
                <a:sym typeface="Lato"/>
              </a:rPr>
              <a:t>Activity remains consistently high before tapering off sharply in the late evening.</a:t>
            </a:r>
            <a:endParaRPr/>
          </a:p>
        </p:txBody>
      </p:sp>
      <p:sp>
        <p:nvSpPr>
          <p:cNvPr id="211" name="Google Shape;211;p22"/>
          <p:cNvSpPr txBox="1"/>
          <p:nvPr/>
        </p:nvSpPr>
        <p:spPr>
          <a:xfrm>
            <a:off x="952500" y="4885134"/>
            <a:ext cx="4905375" cy="670321"/>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50" b="0" i="0" u="none" strike="noStrike" cap="none">
                <a:solidFill>
                  <a:srgbClr val="E5E7EB"/>
                </a:solidFill>
                <a:latin typeface="Lato"/>
                <a:ea typeface="Lato"/>
                <a:cs typeface="Lato"/>
                <a:sym typeface="Lato"/>
              </a:rPr>
              <a:t>Agent shift scheduling must be optimized to align strictly with this predictable daily curve.</a:t>
            </a:r>
            <a:endParaRPr/>
          </a:p>
        </p:txBody>
      </p:sp>
      <p:sp>
        <p:nvSpPr>
          <p:cNvPr id="212" name="Google Shape;212;p22"/>
          <p:cNvSpPr txBox="1"/>
          <p:nvPr/>
        </p:nvSpPr>
        <p:spPr>
          <a:xfrm>
            <a:off x="571500" y="571500"/>
            <a:ext cx="11601450" cy="6191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0" i="0" u="none" strike="noStrike" cap="none">
                <a:solidFill>
                  <a:srgbClr val="FACC15"/>
                </a:solidFill>
                <a:latin typeface="Poppins SemiBold"/>
                <a:ea typeface="Poppins SemiBold"/>
                <a:cs typeface="Poppins SemiBold"/>
                <a:sym typeface="Poppins SemiBold"/>
              </a:rPr>
              <a:t>Hourly Call Distribution</a:t>
            </a:r>
            <a:endParaRPr/>
          </a:p>
        </p:txBody>
      </p:sp>
      <p:sp>
        <p:nvSpPr>
          <p:cNvPr id="213" name="Google Shape;213;p22"/>
          <p:cNvSpPr/>
          <p:nvPr/>
        </p:nvSpPr>
        <p:spPr>
          <a:xfrm>
            <a:off x="571500" y="1266825"/>
            <a:ext cx="11049000" cy="19050"/>
          </a:xfrm>
          <a:prstGeom prst="rect">
            <a:avLst/>
          </a:prstGeom>
          <a:solidFill>
            <a:srgbClr val="37415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214" name="Google Shape;214;p22" descr="image.png"/>
          <p:cNvPicPr preferRelativeResize="0"/>
          <p:nvPr/>
        </p:nvPicPr>
        <p:blipFill rotWithShape="1">
          <a:blip r:embed="rId5">
            <a:alphaModFix/>
          </a:blip>
          <a:srcRect/>
          <a:stretch/>
        </p:blipFill>
        <p:spPr>
          <a:xfrm>
            <a:off x="571500" y="2178843"/>
            <a:ext cx="142875" cy="247650"/>
          </a:xfrm>
          <a:prstGeom prst="rect">
            <a:avLst/>
          </a:prstGeom>
          <a:noFill/>
          <a:ln>
            <a:noFill/>
          </a:ln>
        </p:spPr>
      </p:pic>
      <p:pic>
        <p:nvPicPr>
          <p:cNvPr id="215" name="Google Shape;215;p22" descr="image.png"/>
          <p:cNvPicPr preferRelativeResize="0"/>
          <p:nvPr/>
        </p:nvPicPr>
        <p:blipFill rotWithShape="1">
          <a:blip r:embed="rId5">
            <a:alphaModFix/>
          </a:blip>
          <a:srcRect/>
          <a:stretch/>
        </p:blipFill>
        <p:spPr>
          <a:xfrm>
            <a:off x="571500" y="3087290"/>
            <a:ext cx="142875" cy="247650"/>
          </a:xfrm>
          <a:prstGeom prst="rect">
            <a:avLst/>
          </a:prstGeom>
          <a:noFill/>
          <a:ln>
            <a:noFill/>
          </a:ln>
        </p:spPr>
      </p:pic>
      <p:pic>
        <p:nvPicPr>
          <p:cNvPr id="216" name="Google Shape;216;p22" descr="image.png"/>
          <p:cNvPicPr preferRelativeResize="0"/>
          <p:nvPr/>
        </p:nvPicPr>
        <p:blipFill rotWithShape="1">
          <a:blip r:embed="rId5">
            <a:alphaModFix/>
          </a:blip>
          <a:srcRect/>
          <a:stretch/>
        </p:blipFill>
        <p:spPr>
          <a:xfrm>
            <a:off x="571500" y="3995737"/>
            <a:ext cx="142875" cy="247650"/>
          </a:xfrm>
          <a:prstGeom prst="rect">
            <a:avLst/>
          </a:prstGeom>
          <a:noFill/>
          <a:ln>
            <a:noFill/>
          </a:ln>
        </p:spPr>
      </p:pic>
      <p:pic>
        <p:nvPicPr>
          <p:cNvPr id="217" name="Google Shape;217;p22" descr="image.png"/>
          <p:cNvPicPr preferRelativeResize="0"/>
          <p:nvPr/>
        </p:nvPicPr>
        <p:blipFill rotWithShape="1">
          <a:blip r:embed="rId5">
            <a:alphaModFix/>
          </a:blip>
          <a:srcRect/>
          <a:stretch/>
        </p:blipFill>
        <p:spPr>
          <a:xfrm>
            <a:off x="571500" y="4904184"/>
            <a:ext cx="142875" cy="247650"/>
          </a:xfrm>
          <a:prstGeom prst="rect">
            <a:avLst/>
          </a:prstGeom>
          <a:noFill/>
          <a:ln>
            <a:noFill/>
          </a:ln>
        </p:spPr>
      </p:pic>
      <p:pic>
        <p:nvPicPr>
          <p:cNvPr id="4" name="Picture 3">
            <a:extLst>
              <a:ext uri="{FF2B5EF4-FFF2-40B4-BE49-F238E27FC236}">
                <a16:creationId xmlns:a16="http://schemas.microsoft.com/office/drawing/2014/main" id="{CC5EF4D5-B1D0-5566-6573-981750FFA955}"/>
              </a:ext>
            </a:extLst>
          </p:cNvPr>
          <p:cNvPicPr>
            <a:picLocks noChangeAspect="1"/>
          </p:cNvPicPr>
          <p:nvPr/>
        </p:nvPicPr>
        <p:blipFill>
          <a:blip r:embed="rId6"/>
          <a:stretch>
            <a:fillRect/>
          </a:stretch>
        </p:blipFill>
        <p:spPr>
          <a:xfrm>
            <a:off x="6259484" y="1690686"/>
            <a:ext cx="5361016" cy="4571999"/>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1F2937"/>
        </a:solidFill>
        <a:effectLst/>
      </p:bgPr>
    </p:bg>
    <p:spTree>
      <p:nvGrpSpPr>
        <p:cNvPr id="1" name="Shape 221"/>
        <p:cNvGrpSpPr/>
        <p:nvPr/>
      </p:nvGrpSpPr>
      <p:grpSpPr>
        <a:xfrm>
          <a:off x="0" y="0"/>
          <a:ext cx="0" cy="0"/>
          <a:chOff x="0" y="0"/>
          <a:chExt cx="0" cy="0"/>
        </a:xfrm>
      </p:grpSpPr>
      <p:pic>
        <p:nvPicPr>
          <p:cNvPr id="222" name="Google Shape;222;p23"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223" name="Google Shape;223;p23" descr="image.png"/>
          <p:cNvPicPr preferRelativeResize="0"/>
          <p:nvPr/>
        </p:nvPicPr>
        <p:blipFill rotWithShape="1">
          <a:blip r:embed="rId4">
            <a:alphaModFix/>
          </a:blip>
          <a:srcRect/>
          <a:stretch/>
        </p:blipFill>
        <p:spPr>
          <a:xfrm>
            <a:off x="6334125" y="1690687"/>
            <a:ext cx="5286375" cy="4572000"/>
          </a:xfrm>
          <a:prstGeom prst="rect">
            <a:avLst/>
          </a:prstGeom>
          <a:noFill/>
          <a:ln>
            <a:noFill/>
          </a:ln>
        </p:spPr>
      </p:pic>
      <p:sp>
        <p:nvSpPr>
          <p:cNvPr id="224" name="Google Shape;224;p23"/>
          <p:cNvSpPr txBox="1"/>
          <p:nvPr/>
        </p:nvSpPr>
        <p:spPr>
          <a:xfrm>
            <a:off x="952500" y="1992213"/>
            <a:ext cx="4905375" cy="670321"/>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50" b="0" i="0" u="none" strike="noStrike" cap="none">
                <a:solidFill>
                  <a:srgbClr val="E5E7EB"/>
                </a:solidFill>
                <a:latin typeface="Lato"/>
                <a:ea typeface="Lato"/>
                <a:cs typeface="Lato"/>
                <a:sym typeface="Lato"/>
              </a:rPr>
              <a:t>A concerning volume of interactions resulted in an absolute zero rating (7,256 instances).</a:t>
            </a:r>
            <a:endParaRPr/>
          </a:p>
        </p:txBody>
      </p:sp>
      <p:sp>
        <p:nvSpPr>
          <p:cNvPr id="225" name="Google Shape;225;p23"/>
          <p:cNvSpPr txBox="1"/>
          <p:nvPr/>
        </p:nvSpPr>
        <p:spPr>
          <a:xfrm>
            <a:off x="952500" y="2900660"/>
            <a:ext cx="4905375" cy="670321"/>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50" b="0" i="0" u="none" strike="noStrike" cap="none">
                <a:solidFill>
                  <a:srgbClr val="E5E7EB"/>
                </a:solidFill>
                <a:latin typeface="Lato"/>
                <a:ea typeface="Lato"/>
                <a:cs typeface="Lato"/>
                <a:sym typeface="Lato"/>
              </a:rPr>
              <a:t>Mid-range scores (2 and 3) represent the next highest frequency of ratings.</a:t>
            </a:r>
            <a:endParaRPr/>
          </a:p>
        </p:txBody>
      </p:sp>
      <p:sp>
        <p:nvSpPr>
          <p:cNvPr id="226" name="Google Shape;226;p23"/>
          <p:cNvSpPr txBox="1"/>
          <p:nvPr/>
        </p:nvSpPr>
        <p:spPr>
          <a:xfrm>
            <a:off x="952500" y="3809107"/>
            <a:ext cx="4905375" cy="670321"/>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50" b="0" i="0" u="none" strike="noStrike" cap="none">
                <a:solidFill>
                  <a:srgbClr val="E5E7EB"/>
                </a:solidFill>
                <a:latin typeface="Lato"/>
                <a:ea typeface="Lato"/>
                <a:cs typeface="Lato"/>
                <a:sym typeface="Lato"/>
              </a:rPr>
              <a:t>The overall platform </a:t>
            </a:r>
            <a:r>
              <a:rPr lang="en-US" sz="1650" b="1" i="0" u="none" strike="noStrike" cap="none">
                <a:solidFill>
                  <a:srgbClr val="E5E7EB"/>
                </a:solidFill>
                <a:latin typeface="Lato"/>
                <a:ea typeface="Lato"/>
                <a:cs typeface="Lato"/>
                <a:sym typeface="Lato"/>
              </a:rPr>
              <a:t>average rating sits at a low 2.93</a:t>
            </a:r>
            <a:r>
              <a:rPr lang="en-US" sz="1650" b="0" i="0" u="none" strike="noStrike" cap="none">
                <a:solidFill>
                  <a:srgbClr val="E5E7EB"/>
                </a:solidFill>
                <a:latin typeface="Lato"/>
                <a:ea typeface="Lato"/>
                <a:cs typeface="Lato"/>
                <a:sym typeface="Lato"/>
              </a:rPr>
              <a:t> out of 8.</a:t>
            </a:r>
            <a:endParaRPr/>
          </a:p>
        </p:txBody>
      </p:sp>
      <p:sp>
        <p:nvSpPr>
          <p:cNvPr id="227" name="Google Shape;227;p23"/>
          <p:cNvSpPr txBox="1"/>
          <p:nvPr/>
        </p:nvSpPr>
        <p:spPr>
          <a:xfrm>
            <a:off x="952500" y="4717553"/>
            <a:ext cx="4905375" cy="1005482"/>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50" b="0" i="0" u="none" strike="noStrike" cap="none">
                <a:solidFill>
                  <a:srgbClr val="E5E7EB"/>
                </a:solidFill>
                <a:latin typeface="Lato"/>
                <a:ea typeface="Lato"/>
                <a:cs typeface="Lato"/>
                <a:sym typeface="Lato"/>
              </a:rPr>
              <a:t>This skewed distribution indicates an urgent, systemic need for quality assurance and agent retraining.</a:t>
            </a:r>
            <a:endParaRPr/>
          </a:p>
        </p:txBody>
      </p:sp>
      <p:sp>
        <p:nvSpPr>
          <p:cNvPr id="228" name="Google Shape;228;p23"/>
          <p:cNvSpPr txBox="1"/>
          <p:nvPr/>
        </p:nvSpPr>
        <p:spPr>
          <a:xfrm>
            <a:off x="571500" y="571500"/>
            <a:ext cx="11601450" cy="6191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0" i="0" u="none" strike="noStrike" cap="none">
                <a:solidFill>
                  <a:srgbClr val="FACC15"/>
                </a:solidFill>
                <a:latin typeface="Poppins SemiBold"/>
                <a:ea typeface="Poppins SemiBold"/>
                <a:cs typeface="Poppins SemiBold"/>
                <a:sym typeface="Poppins SemiBold"/>
              </a:rPr>
              <a:t>User Rating Distribution</a:t>
            </a:r>
            <a:endParaRPr/>
          </a:p>
        </p:txBody>
      </p:sp>
      <p:sp>
        <p:nvSpPr>
          <p:cNvPr id="229" name="Google Shape;229;p23"/>
          <p:cNvSpPr/>
          <p:nvPr/>
        </p:nvSpPr>
        <p:spPr>
          <a:xfrm>
            <a:off x="571500" y="1266825"/>
            <a:ext cx="11049000" cy="19050"/>
          </a:xfrm>
          <a:prstGeom prst="rect">
            <a:avLst/>
          </a:prstGeom>
          <a:solidFill>
            <a:srgbClr val="37415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230" name="Google Shape;230;p23" descr="image.png"/>
          <p:cNvPicPr preferRelativeResize="0"/>
          <p:nvPr/>
        </p:nvPicPr>
        <p:blipFill rotWithShape="1">
          <a:blip r:embed="rId5">
            <a:alphaModFix/>
          </a:blip>
          <a:srcRect/>
          <a:stretch/>
        </p:blipFill>
        <p:spPr>
          <a:xfrm>
            <a:off x="571500" y="2011263"/>
            <a:ext cx="142875" cy="247650"/>
          </a:xfrm>
          <a:prstGeom prst="rect">
            <a:avLst/>
          </a:prstGeom>
          <a:noFill/>
          <a:ln>
            <a:noFill/>
          </a:ln>
        </p:spPr>
      </p:pic>
      <p:pic>
        <p:nvPicPr>
          <p:cNvPr id="231" name="Google Shape;231;p23" descr="image.png"/>
          <p:cNvPicPr preferRelativeResize="0"/>
          <p:nvPr/>
        </p:nvPicPr>
        <p:blipFill rotWithShape="1">
          <a:blip r:embed="rId5">
            <a:alphaModFix/>
          </a:blip>
          <a:srcRect/>
          <a:stretch/>
        </p:blipFill>
        <p:spPr>
          <a:xfrm>
            <a:off x="571500" y="2919710"/>
            <a:ext cx="142875" cy="247650"/>
          </a:xfrm>
          <a:prstGeom prst="rect">
            <a:avLst/>
          </a:prstGeom>
          <a:noFill/>
          <a:ln>
            <a:noFill/>
          </a:ln>
        </p:spPr>
      </p:pic>
      <p:pic>
        <p:nvPicPr>
          <p:cNvPr id="232" name="Google Shape;232;p23" descr="image.png"/>
          <p:cNvPicPr preferRelativeResize="0"/>
          <p:nvPr/>
        </p:nvPicPr>
        <p:blipFill rotWithShape="1">
          <a:blip r:embed="rId5">
            <a:alphaModFix/>
          </a:blip>
          <a:srcRect/>
          <a:stretch/>
        </p:blipFill>
        <p:spPr>
          <a:xfrm>
            <a:off x="571500" y="3828157"/>
            <a:ext cx="142875" cy="247650"/>
          </a:xfrm>
          <a:prstGeom prst="rect">
            <a:avLst/>
          </a:prstGeom>
          <a:noFill/>
          <a:ln>
            <a:noFill/>
          </a:ln>
        </p:spPr>
      </p:pic>
      <p:pic>
        <p:nvPicPr>
          <p:cNvPr id="233" name="Google Shape;233;p23" descr="image.png"/>
          <p:cNvPicPr preferRelativeResize="0"/>
          <p:nvPr/>
        </p:nvPicPr>
        <p:blipFill rotWithShape="1">
          <a:blip r:embed="rId5">
            <a:alphaModFix/>
          </a:blip>
          <a:srcRect/>
          <a:stretch/>
        </p:blipFill>
        <p:spPr>
          <a:xfrm>
            <a:off x="571500" y="4736603"/>
            <a:ext cx="142875" cy="247650"/>
          </a:xfrm>
          <a:prstGeom prst="rect">
            <a:avLst/>
          </a:prstGeom>
          <a:noFill/>
          <a:ln>
            <a:noFill/>
          </a:ln>
        </p:spPr>
      </p:pic>
      <p:pic>
        <p:nvPicPr>
          <p:cNvPr id="3" name="Picture 2">
            <a:extLst>
              <a:ext uri="{FF2B5EF4-FFF2-40B4-BE49-F238E27FC236}">
                <a16:creationId xmlns:a16="http://schemas.microsoft.com/office/drawing/2014/main" id="{F1545B31-FD71-AC09-E0BC-BB214C6CDB4C}"/>
              </a:ext>
            </a:extLst>
          </p:cNvPr>
          <p:cNvPicPr>
            <a:picLocks noChangeAspect="1"/>
          </p:cNvPicPr>
          <p:nvPr/>
        </p:nvPicPr>
        <p:blipFill>
          <a:blip r:embed="rId6"/>
          <a:stretch>
            <a:fillRect/>
          </a:stretch>
        </p:blipFill>
        <p:spPr>
          <a:xfrm>
            <a:off x="6334124" y="1690687"/>
            <a:ext cx="5345257" cy="4595813"/>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1F2937"/>
        </a:solidFill>
        <a:effectLst/>
      </p:bgPr>
    </p:bg>
    <p:spTree>
      <p:nvGrpSpPr>
        <p:cNvPr id="1" name="Shape 237"/>
        <p:cNvGrpSpPr/>
        <p:nvPr/>
      </p:nvGrpSpPr>
      <p:grpSpPr>
        <a:xfrm>
          <a:off x="0" y="0"/>
          <a:ext cx="0" cy="0"/>
          <a:chOff x="0" y="0"/>
          <a:chExt cx="0" cy="0"/>
        </a:xfrm>
      </p:grpSpPr>
      <p:pic>
        <p:nvPicPr>
          <p:cNvPr id="238" name="Google Shape;238;p24"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239" name="Google Shape;239;p24" descr="image.png"/>
          <p:cNvPicPr preferRelativeResize="0"/>
          <p:nvPr/>
        </p:nvPicPr>
        <p:blipFill rotWithShape="1">
          <a:blip r:embed="rId4">
            <a:alphaModFix/>
          </a:blip>
          <a:srcRect/>
          <a:stretch/>
        </p:blipFill>
        <p:spPr>
          <a:xfrm>
            <a:off x="6334125" y="1690687"/>
            <a:ext cx="5286375" cy="4572000"/>
          </a:xfrm>
          <a:prstGeom prst="rect">
            <a:avLst/>
          </a:prstGeom>
          <a:noFill/>
          <a:ln>
            <a:noFill/>
          </a:ln>
        </p:spPr>
      </p:pic>
      <p:sp>
        <p:nvSpPr>
          <p:cNvPr id="240" name="Google Shape;240;p24"/>
          <p:cNvSpPr txBox="1"/>
          <p:nvPr/>
        </p:nvSpPr>
        <p:spPr>
          <a:xfrm>
            <a:off x="952500" y="1992213"/>
            <a:ext cx="4905375" cy="670321"/>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50" b="0" i="0" u="none" strike="noStrike" cap="none">
                <a:solidFill>
                  <a:srgbClr val="E5E7EB"/>
                </a:solidFill>
                <a:latin typeface="Lato"/>
                <a:ea typeface="Lato"/>
                <a:cs typeface="Lato"/>
                <a:sym typeface="Lato"/>
              </a:rPr>
              <a:t>Individual agent performance closely mirrors the overall platform rating trends.</a:t>
            </a:r>
            <a:endParaRPr/>
          </a:p>
        </p:txBody>
      </p:sp>
      <p:sp>
        <p:nvSpPr>
          <p:cNvPr id="241" name="Google Shape;241;p24"/>
          <p:cNvSpPr txBox="1"/>
          <p:nvPr/>
        </p:nvSpPr>
        <p:spPr>
          <a:xfrm>
            <a:off x="952500" y="2900660"/>
            <a:ext cx="4905375" cy="670321"/>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50" b="0" i="0" u="none" strike="noStrike" cap="none">
                <a:solidFill>
                  <a:srgbClr val="E5E7EB"/>
                </a:solidFill>
                <a:latin typeface="Lato"/>
                <a:ea typeface="Lato"/>
                <a:cs typeface="Lato"/>
                <a:sym typeface="Lato"/>
              </a:rPr>
              <a:t>The vast majority of agents are heavily concentrated in the 2 and 3 average score brackets.</a:t>
            </a:r>
            <a:endParaRPr/>
          </a:p>
        </p:txBody>
      </p:sp>
      <p:sp>
        <p:nvSpPr>
          <p:cNvPr id="242" name="Google Shape;242;p24"/>
          <p:cNvSpPr txBox="1"/>
          <p:nvPr/>
        </p:nvSpPr>
        <p:spPr>
          <a:xfrm>
            <a:off x="952500" y="3809107"/>
            <a:ext cx="4905375" cy="670321"/>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50" b="0" i="0" u="none" strike="noStrike" cap="none">
                <a:solidFill>
                  <a:srgbClr val="E5E7EB"/>
                </a:solidFill>
                <a:latin typeface="Lato"/>
                <a:ea typeface="Lato"/>
                <a:cs typeface="Lato"/>
                <a:sym typeface="Lato"/>
              </a:rPr>
              <a:t>The scarcity of agents maintaining top-tier ratings suggests broad inconsistencies in service delivery.</a:t>
            </a:r>
            <a:endParaRPr/>
          </a:p>
        </p:txBody>
      </p:sp>
      <p:sp>
        <p:nvSpPr>
          <p:cNvPr id="243" name="Google Shape;243;p24"/>
          <p:cNvSpPr txBox="1"/>
          <p:nvPr/>
        </p:nvSpPr>
        <p:spPr>
          <a:xfrm>
            <a:off x="952500" y="4717553"/>
            <a:ext cx="4905375" cy="1005482"/>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50" b="0" i="0" u="none" strike="noStrike" cap="none">
                <a:solidFill>
                  <a:srgbClr val="E5E7EB"/>
                </a:solidFill>
                <a:latin typeface="Lato"/>
                <a:ea typeface="Lato"/>
                <a:cs typeface="Lato"/>
                <a:sym typeface="Lato"/>
              </a:rPr>
              <a:t>Standardized training programs are required to elevate the baseline performance across all consultants.</a:t>
            </a:r>
            <a:endParaRPr/>
          </a:p>
        </p:txBody>
      </p:sp>
      <p:sp>
        <p:nvSpPr>
          <p:cNvPr id="244" name="Google Shape;244;p24"/>
          <p:cNvSpPr txBox="1"/>
          <p:nvPr/>
        </p:nvSpPr>
        <p:spPr>
          <a:xfrm>
            <a:off x="571500" y="571500"/>
            <a:ext cx="11601450" cy="6191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0" i="0" u="none" strike="noStrike" cap="none">
                <a:solidFill>
                  <a:srgbClr val="FACC15"/>
                </a:solidFill>
                <a:latin typeface="Poppins SemiBold"/>
                <a:ea typeface="Poppins SemiBold"/>
                <a:cs typeface="Poppins SemiBold"/>
                <a:sym typeface="Poppins SemiBold"/>
              </a:rPr>
              <a:t>Rating-wise Guru Performance</a:t>
            </a:r>
            <a:endParaRPr/>
          </a:p>
        </p:txBody>
      </p:sp>
      <p:sp>
        <p:nvSpPr>
          <p:cNvPr id="245" name="Google Shape;245;p24"/>
          <p:cNvSpPr/>
          <p:nvPr/>
        </p:nvSpPr>
        <p:spPr>
          <a:xfrm>
            <a:off x="571500" y="1266825"/>
            <a:ext cx="11049000" cy="19050"/>
          </a:xfrm>
          <a:prstGeom prst="rect">
            <a:avLst/>
          </a:prstGeom>
          <a:solidFill>
            <a:srgbClr val="37415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246" name="Google Shape;246;p24" descr="image.png"/>
          <p:cNvPicPr preferRelativeResize="0"/>
          <p:nvPr/>
        </p:nvPicPr>
        <p:blipFill rotWithShape="1">
          <a:blip r:embed="rId5">
            <a:alphaModFix/>
          </a:blip>
          <a:srcRect/>
          <a:stretch/>
        </p:blipFill>
        <p:spPr>
          <a:xfrm>
            <a:off x="571500" y="2011263"/>
            <a:ext cx="142875" cy="247650"/>
          </a:xfrm>
          <a:prstGeom prst="rect">
            <a:avLst/>
          </a:prstGeom>
          <a:noFill/>
          <a:ln>
            <a:noFill/>
          </a:ln>
        </p:spPr>
      </p:pic>
      <p:pic>
        <p:nvPicPr>
          <p:cNvPr id="247" name="Google Shape;247;p24" descr="image.png"/>
          <p:cNvPicPr preferRelativeResize="0"/>
          <p:nvPr/>
        </p:nvPicPr>
        <p:blipFill rotWithShape="1">
          <a:blip r:embed="rId5">
            <a:alphaModFix/>
          </a:blip>
          <a:srcRect/>
          <a:stretch/>
        </p:blipFill>
        <p:spPr>
          <a:xfrm>
            <a:off x="571500" y="2919710"/>
            <a:ext cx="142875" cy="247650"/>
          </a:xfrm>
          <a:prstGeom prst="rect">
            <a:avLst/>
          </a:prstGeom>
          <a:noFill/>
          <a:ln>
            <a:noFill/>
          </a:ln>
        </p:spPr>
      </p:pic>
      <p:pic>
        <p:nvPicPr>
          <p:cNvPr id="248" name="Google Shape;248;p24" descr="image.png"/>
          <p:cNvPicPr preferRelativeResize="0"/>
          <p:nvPr/>
        </p:nvPicPr>
        <p:blipFill rotWithShape="1">
          <a:blip r:embed="rId5">
            <a:alphaModFix/>
          </a:blip>
          <a:srcRect/>
          <a:stretch/>
        </p:blipFill>
        <p:spPr>
          <a:xfrm>
            <a:off x="571500" y="3828157"/>
            <a:ext cx="142875" cy="247650"/>
          </a:xfrm>
          <a:prstGeom prst="rect">
            <a:avLst/>
          </a:prstGeom>
          <a:noFill/>
          <a:ln>
            <a:noFill/>
          </a:ln>
        </p:spPr>
      </p:pic>
      <p:pic>
        <p:nvPicPr>
          <p:cNvPr id="249" name="Google Shape;249;p24" descr="image.png"/>
          <p:cNvPicPr preferRelativeResize="0"/>
          <p:nvPr/>
        </p:nvPicPr>
        <p:blipFill rotWithShape="1">
          <a:blip r:embed="rId5">
            <a:alphaModFix/>
          </a:blip>
          <a:srcRect/>
          <a:stretch/>
        </p:blipFill>
        <p:spPr>
          <a:xfrm>
            <a:off x="571500" y="4736603"/>
            <a:ext cx="142875" cy="247650"/>
          </a:xfrm>
          <a:prstGeom prst="rect">
            <a:avLst/>
          </a:prstGeom>
          <a:noFill/>
          <a:ln>
            <a:noFill/>
          </a:ln>
        </p:spPr>
      </p:pic>
      <p:pic>
        <p:nvPicPr>
          <p:cNvPr id="3" name="Picture 2">
            <a:extLst>
              <a:ext uri="{FF2B5EF4-FFF2-40B4-BE49-F238E27FC236}">
                <a16:creationId xmlns:a16="http://schemas.microsoft.com/office/drawing/2014/main" id="{75905282-82D8-3A9B-6ED7-BEF45CD00FE0}"/>
              </a:ext>
            </a:extLst>
          </p:cNvPr>
          <p:cNvPicPr>
            <a:picLocks noChangeAspect="1"/>
          </p:cNvPicPr>
          <p:nvPr/>
        </p:nvPicPr>
        <p:blipFill>
          <a:blip r:embed="rId6"/>
          <a:stretch>
            <a:fillRect/>
          </a:stretch>
        </p:blipFill>
        <p:spPr>
          <a:xfrm>
            <a:off x="6334125" y="1690686"/>
            <a:ext cx="5286375" cy="4595813"/>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1F2937"/>
        </a:solidFill>
        <a:effectLst/>
      </p:bgPr>
    </p:bg>
    <p:spTree>
      <p:nvGrpSpPr>
        <p:cNvPr id="1" name="Shape 253"/>
        <p:cNvGrpSpPr/>
        <p:nvPr/>
      </p:nvGrpSpPr>
      <p:grpSpPr>
        <a:xfrm>
          <a:off x="0" y="0"/>
          <a:ext cx="0" cy="0"/>
          <a:chOff x="0" y="0"/>
          <a:chExt cx="0" cy="0"/>
        </a:xfrm>
      </p:grpSpPr>
      <p:pic>
        <p:nvPicPr>
          <p:cNvPr id="254" name="Google Shape;254;p25"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255" name="Google Shape;255;p25" descr="image.png"/>
          <p:cNvPicPr preferRelativeResize="0"/>
          <p:nvPr/>
        </p:nvPicPr>
        <p:blipFill rotWithShape="1">
          <a:blip r:embed="rId4">
            <a:alphaModFix/>
          </a:blip>
          <a:srcRect/>
          <a:stretch/>
        </p:blipFill>
        <p:spPr>
          <a:xfrm>
            <a:off x="6334125" y="1690687"/>
            <a:ext cx="5286375" cy="4572000"/>
          </a:xfrm>
          <a:prstGeom prst="rect">
            <a:avLst/>
          </a:prstGeom>
          <a:noFill/>
          <a:ln>
            <a:noFill/>
          </a:ln>
        </p:spPr>
      </p:pic>
      <p:sp>
        <p:nvSpPr>
          <p:cNvPr id="256" name="Google Shape;256;p25"/>
          <p:cNvSpPr txBox="1"/>
          <p:nvPr/>
        </p:nvSpPr>
        <p:spPr>
          <a:xfrm>
            <a:off x="952500" y="2159793"/>
            <a:ext cx="4905375" cy="670321"/>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50" b="0" i="0" u="none" strike="noStrike" cap="none" dirty="0">
                <a:solidFill>
                  <a:srgbClr val="E5E7EB"/>
                </a:solidFill>
                <a:latin typeface="Lato"/>
                <a:ea typeface="Lato"/>
                <a:cs typeface="Lato"/>
                <a:sym typeface="Lato"/>
              </a:rPr>
              <a:t>Workload is disproportionately distributed across the agent pool.</a:t>
            </a:r>
            <a:endParaRPr dirty="0"/>
          </a:p>
        </p:txBody>
      </p:sp>
      <p:sp>
        <p:nvSpPr>
          <p:cNvPr id="257" name="Google Shape;257;p25"/>
          <p:cNvSpPr txBox="1"/>
          <p:nvPr/>
        </p:nvSpPr>
        <p:spPr>
          <a:xfrm>
            <a:off x="952500" y="3068240"/>
            <a:ext cx="4905375" cy="670321"/>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50" b="0" i="0" u="none" strike="noStrike" cap="none">
                <a:solidFill>
                  <a:srgbClr val="E5E7EB"/>
                </a:solidFill>
                <a:latin typeface="Lato"/>
                <a:ea typeface="Lato"/>
                <a:cs typeface="Lato"/>
                <a:sym typeface="Lato"/>
              </a:rPr>
              <a:t>Top-performing experts (e.g., Astro Krishaa, Astro Sakthi) manage exceptionally high volumes.</a:t>
            </a:r>
            <a:endParaRPr/>
          </a:p>
        </p:txBody>
      </p:sp>
      <p:sp>
        <p:nvSpPr>
          <p:cNvPr id="258" name="Google Shape;258;p25"/>
          <p:cNvSpPr txBox="1"/>
          <p:nvPr/>
        </p:nvSpPr>
        <p:spPr>
          <a:xfrm>
            <a:off x="952500" y="3976687"/>
            <a:ext cx="4905375" cy="670321"/>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50" b="0" i="0" u="none" strike="noStrike" cap="none">
                <a:solidFill>
                  <a:srgbClr val="E5E7EB"/>
                </a:solidFill>
                <a:latin typeface="Lato"/>
                <a:ea typeface="Lato"/>
                <a:cs typeface="Lato"/>
                <a:sym typeface="Lato"/>
              </a:rPr>
              <a:t>This severe imbalance risks critical burnout for the platform's most valuable agents.</a:t>
            </a:r>
            <a:endParaRPr/>
          </a:p>
        </p:txBody>
      </p:sp>
      <p:sp>
        <p:nvSpPr>
          <p:cNvPr id="259" name="Google Shape;259;p25"/>
          <p:cNvSpPr txBox="1"/>
          <p:nvPr/>
        </p:nvSpPr>
        <p:spPr>
          <a:xfrm>
            <a:off x="952500" y="4885134"/>
            <a:ext cx="4905375" cy="670321"/>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50" b="0" i="0" u="none" strike="noStrike" cap="none">
                <a:solidFill>
                  <a:srgbClr val="E5E7EB"/>
                </a:solidFill>
                <a:latin typeface="Lato"/>
                <a:ea typeface="Lato"/>
                <a:cs typeface="Lato"/>
                <a:sym typeface="Lato"/>
              </a:rPr>
              <a:t>A revamped, intelligent call routing algorithm is needed to balance allocation and utilize idle capacity.</a:t>
            </a:r>
            <a:endParaRPr/>
          </a:p>
        </p:txBody>
      </p:sp>
      <p:sp>
        <p:nvSpPr>
          <p:cNvPr id="260" name="Google Shape;260;p25"/>
          <p:cNvSpPr txBox="1"/>
          <p:nvPr/>
        </p:nvSpPr>
        <p:spPr>
          <a:xfrm>
            <a:off x="571500" y="571500"/>
            <a:ext cx="11601450" cy="6191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0" i="0" u="none" strike="noStrike" cap="none">
                <a:solidFill>
                  <a:srgbClr val="FACC15"/>
                </a:solidFill>
                <a:latin typeface="Poppins SemiBold"/>
                <a:ea typeface="Poppins SemiBold"/>
                <a:cs typeface="Poppins SemiBold"/>
                <a:sym typeface="Poppins SemiBold"/>
              </a:rPr>
              <a:t>Top Gurus by Calls Handled</a:t>
            </a:r>
            <a:endParaRPr/>
          </a:p>
        </p:txBody>
      </p:sp>
      <p:sp>
        <p:nvSpPr>
          <p:cNvPr id="261" name="Google Shape;261;p25"/>
          <p:cNvSpPr/>
          <p:nvPr/>
        </p:nvSpPr>
        <p:spPr>
          <a:xfrm>
            <a:off x="571500" y="1266825"/>
            <a:ext cx="11049000" cy="19050"/>
          </a:xfrm>
          <a:prstGeom prst="rect">
            <a:avLst/>
          </a:prstGeom>
          <a:solidFill>
            <a:srgbClr val="37415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262" name="Google Shape;262;p25" descr="image.png"/>
          <p:cNvPicPr preferRelativeResize="0"/>
          <p:nvPr/>
        </p:nvPicPr>
        <p:blipFill rotWithShape="1">
          <a:blip r:embed="rId5">
            <a:alphaModFix/>
          </a:blip>
          <a:srcRect/>
          <a:stretch/>
        </p:blipFill>
        <p:spPr>
          <a:xfrm>
            <a:off x="571500" y="2178843"/>
            <a:ext cx="142875" cy="247650"/>
          </a:xfrm>
          <a:prstGeom prst="rect">
            <a:avLst/>
          </a:prstGeom>
          <a:noFill/>
          <a:ln>
            <a:noFill/>
          </a:ln>
        </p:spPr>
      </p:pic>
      <p:pic>
        <p:nvPicPr>
          <p:cNvPr id="263" name="Google Shape;263;p25" descr="image.png"/>
          <p:cNvPicPr preferRelativeResize="0"/>
          <p:nvPr/>
        </p:nvPicPr>
        <p:blipFill rotWithShape="1">
          <a:blip r:embed="rId5">
            <a:alphaModFix/>
          </a:blip>
          <a:srcRect/>
          <a:stretch/>
        </p:blipFill>
        <p:spPr>
          <a:xfrm>
            <a:off x="571500" y="3087290"/>
            <a:ext cx="142875" cy="247650"/>
          </a:xfrm>
          <a:prstGeom prst="rect">
            <a:avLst/>
          </a:prstGeom>
          <a:noFill/>
          <a:ln>
            <a:noFill/>
          </a:ln>
        </p:spPr>
      </p:pic>
      <p:pic>
        <p:nvPicPr>
          <p:cNvPr id="264" name="Google Shape;264;p25" descr="image.png"/>
          <p:cNvPicPr preferRelativeResize="0"/>
          <p:nvPr/>
        </p:nvPicPr>
        <p:blipFill rotWithShape="1">
          <a:blip r:embed="rId5">
            <a:alphaModFix/>
          </a:blip>
          <a:srcRect/>
          <a:stretch/>
        </p:blipFill>
        <p:spPr>
          <a:xfrm>
            <a:off x="571500" y="3995737"/>
            <a:ext cx="142875" cy="247650"/>
          </a:xfrm>
          <a:prstGeom prst="rect">
            <a:avLst/>
          </a:prstGeom>
          <a:noFill/>
          <a:ln>
            <a:noFill/>
          </a:ln>
        </p:spPr>
      </p:pic>
      <p:pic>
        <p:nvPicPr>
          <p:cNvPr id="265" name="Google Shape;265;p25" descr="image.png"/>
          <p:cNvPicPr preferRelativeResize="0"/>
          <p:nvPr/>
        </p:nvPicPr>
        <p:blipFill rotWithShape="1">
          <a:blip r:embed="rId5">
            <a:alphaModFix/>
          </a:blip>
          <a:srcRect/>
          <a:stretch/>
        </p:blipFill>
        <p:spPr>
          <a:xfrm>
            <a:off x="571500" y="4904184"/>
            <a:ext cx="142875" cy="247650"/>
          </a:xfrm>
          <a:prstGeom prst="rect">
            <a:avLst/>
          </a:prstGeom>
          <a:noFill/>
          <a:ln>
            <a:noFill/>
          </a:ln>
        </p:spPr>
      </p:pic>
      <p:pic>
        <p:nvPicPr>
          <p:cNvPr id="3" name="Picture 2">
            <a:extLst>
              <a:ext uri="{FF2B5EF4-FFF2-40B4-BE49-F238E27FC236}">
                <a16:creationId xmlns:a16="http://schemas.microsoft.com/office/drawing/2014/main" id="{7DE2589A-804D-2203-BD2C-9FFE5808C2BD}"/>
              </a:ext>
            </a:extLst>
          </p:cNvPr>
          <p:cNvPicPr>
            <a:picLocks noChangeAspect="1"/>
          </p:cNvPicPr>
          <p:nvPr/>
        </p:nvPicPr>
        <p:blipFill>
          <a:blip r:embed="rId6"/>
          <a:stretch>
            <a:fillRect/>
          </a:stretch>
        </p:blipFill>
        <p:spPr>
          <a:xfrm>
            <a:off x="6334124" y="1663986"/>
            <a:ext cx="5286375" cy="4598701"/>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1F2937"/>
        </a:solidFill>
        <a:effectLst/>
      </p:bgPr>
    </p:bg>
    <p:spTree>
      <p:nvGrpSpPr>
        <p:cNvPr id="1" name="Shape 269"/>
        <p:cNvGrpSpPr/>
        <p:nvPr/>
      </p:nvGrpSpPr>
      <p:grpSpPr>
        <a:xfrm>
          <a:off x="0" y="0"/>
          <a:ext cx="0" cy="0"/>
          <a:chOff x="0" y="0"/>
          <a:chExt cx="0" cy="0"/>
        </a:xfrm>
      </p:grpSpPr>
      <p:pic>
        <p:nvPicPr>
          <p:cNvPr id="270" name="Google Shape;270;p26"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271" name="Google Shape;271;p26" descr="image.png"/>
          <p:cNvPicPr preferRelativeResize="0"/>
          <p:nvPr/>
        </p:nvPicPr>
        <p:blipFill rotWithShape="1">
          <a:blip r:embed="rId4">
            <a:alphaModFix/>
          </a:blip>
          <a:srcRect/>
          <a:stretch/>
        </p:blipFill>
        <p:spPr>
          <a:xfrm>
            <a:off x="6334125" y="1690687"/>
            <a:ext cx="5286375" cy="4572000"/>
          </a:xfrm>
          <a:prstGeom prst="rect">
            <a:avLst/>
          </a:prstGeom>
          <a:noFill/>
          <a:ln>
            <a:noFill/>
          </a:ln>
        </p:spPr>
      </p:pic>
      <p:sp>
        <p:nvSpPr>
          <p:cNvPr id="272" name="Google Shape;272;p26"/>
          <p:cNvSpPr txBox="1"/>
          <p:nvPr/>
        </p:nvSpPr>
        <p:spPr>
          <a:xfrm>
            <a:off x="952500" y="2159793"/>
            <a:ext cx="4905375" cy="670321"/>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50" b="0" i="0" u="none" strike="noStrike" cap="none">
                <a:solidFill>
                  <a:srgbClr val="E5E7EB"/>
                </a:solidFill>
                <a:latin typeface="Lato"/>
                <a:ea typeface="Lato"/>
                <a:cs typeface="Lato"/>
                <a:sym typeface="Lato"/>
              </a:rPr>
              <a:t>Consultation volumes exhibit significant and somewhat unpredictable day-to-day variance.</a:t>
            </a:r>
            <a:endParaRPr/>
          </a:p>
        </p:txBody>
      </p:sp>
      <p:sp>
        <p:nvSpPr>
          <p:cNvPr id="273" name="Google Shape;273;p26"/>
          <p:cNvSpPr txBox="1"/>
          <p:nvPr/>
        </p:nvSpPr>
        <p:spPr>
          <a:xfrm>
            <a:off x="952500" y="3068240"/>
            <a:ext cx="4905375" cy="670321"/>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50" b="0" i="0" u="none" strike="noStrike" cap="none" dirty="0">
                <a:solidFill>
                  <a:srgbClr val="E5E7EB"/>
                </a:solidFill>
                <a:latin typeface="Lato"/>
                <a:ea typeface="Lato"/>
                <a:cs typeface="Lato"/>
                <a:sym typeface="Lato"/>
              </a:rPr>
              <a:t>Distinct demand spikes occur randomly, alongside noticeably lower-activity days.</a:t>
            </a:r>
            <a:endParaRPr dirty="0"/>
          </a:p>
        </p:txBody>
      </p:sp>
      <p:sp>
        <p:nvSpPr>
          <p:cNvPr id="274" name="Google Shape;274;p26"/>
          <p:cNvSpPr txBox="1"/>
          <p:nvPr/>
        </p:nvSpPr>
        <p:spPr>
          <a:xfrm>
            <a:off x="952500" y="3976687"/>
            <a:ext cx="4905375" cy="670321"/>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50" b="0" i="0" u="none" strike="noStrike" cap="none">
                <a:solidFill>
                  <a:srgbClr val="E5E7EB"/>
                </a:solidFill>
                <a:latin typeface="Lato"/>
                <a:ea typeface="Lato"/>
                <a:cs typeface="Lato"/>
                <a:sym typeface="Lato"/>
              </a:rPr>
              <a:t>Current static staffing models struggle to adapt to these daily fluctuations.</a:t>
            </a:r>
            <a:endParaRPr/>
          </a:p>
        </p:txBody>
      </p:sp>
      <p:sp>
        <p:nvSpPr>
          <p:cNvPr id="275" name="Google Shape;275;p26"/>
          <p:cNvSpPr txBox="1"/>
          <p:nvPr/>
        </p:nvSpPr>
        <p:spPr>
          <a:xfrm>
            <a:off x="952500" y="4885134"/>
            <a:ext cx="4905375" cy="670321"/>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50" b="0" i="0" u="none" strike="noStrike" cap="none">
                <a:solidFill>
                  <a:srgbClr val="E5E7EB"/>
                </a:solidFill>
                <a:latin typeface="Lato"/>
                <a:ea typeface="Lato"/>
                <a:cs typeface="Lato"/>
                <a:sym typeface="Lato"/>
              </a:rPr>
              <a:t>Predictive forecasting models based on historical patterns can optimize daily resource allocation.</a:t>
            </a:r>
            <a:endParaRPr/>
          </a:p>
        </p:txBody>
      </p:sp>
      <p:sp>
        <p:nvSpPr>
          <p:cNvPr id="276" name="Google Shape;276;p26"/>
          <p:cNvSpPr txBox="1"/>
          <p:nvPr/>
        </p:nvSpPr>
        <p:spPr>
          <a:xfrm>
            <a:off x="571500" y="571500"/>
            <a:ext cx="11601450" cy="6191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0" i="0" u="none" strike="noStrike" cap="none">
                <a:solidFill>
                  <a:srgbClr val="FACC15"/>
                </a:solidFill>
                <a:latin typeface="Poppins SemiBold"/>
                <a:ea typeface="Poppins SemiBold"/>
                <a:cs typeface="Poppins SemiBold"/>
                <a:sym typeface="Poppins SemiBold"/>
              </a:rPr>
              <a:t>Day-wise Call Volume Trend</a:t>
            </a:r>
            <a:endParaRPr/>
          </a:p>
        </p:txBody>
      </p:sp>
      <p:sp>
        <p:nvSpPr>
          <p:cNvPr id="277" name="Google Shape;277;p26"/>
          <p:cNvSpPr/>
          <p:nvPr/>
        </p:nvSpPr>
        <p:spPr>
          <a:xfrm>
            <a:off x="571500" y="1266825"/>
            <a:ext cx="11049000" cy="19050"/>
          </a:xfrm>
          <a:prstGeom prst="rect">
            <a:avLst/>
          </a:prstGeom>
          <a:solidFill>
            <a:srgbClr val="37415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278" name="Google Shape;278;p26" descr="image.png"/>
          <p:cNvPicPr preferRelativeResize="0"/>
          <p:nvPr/>
        </p:nvPicPr>
        <p:blipFill rotWithShape="1">
          <a:blip r:embed="rId5">
            <a:alphaModFix/>
          </a:blip>
          <a:srcRect/>
          <a:stretch/>
        </p:blipFill>
        <p:spPr>
          <a:xfrm>
            <a:off x="571500" y="2178843"/>
            <a:ext cx="142875" cy="247650"/>
          </a:xfrm>
          <a:prstGeom prst="rect">
            <a:avLst/>
          </a:prstGeom>
          <a:noFill/>
          <a:ln>
            <a:noFill/>
          </a:ln>
        </p:spPr>
      </p:pic>
      <p:pic>
        <p:nvPicPr>
          <p:cNvPr id="279" name="Google Shape;279;p26" descr="image.png"/>
          <p:cNvPicPr preferRelativeResize="0"/>
          <p:nvPr/>
        </p:nvPicPr>
        <p:blipFill rotWithShape="1">
          <a:blip r:embed="rId5">
            <a:alphaModFix/>
          </a:blip>
          <a:srcRect/>
          <a:stretch/>
        </p:blipFill>
        <p:spPr>
          <a:xfrm>
            <a:off x="571500" y="3087290"/>
            <a:ext cx="142875" cy="247650"/>
          </a:xfrm>
          <a:prstGeom prst="rect">
            <a:avLst/>
          </a:prstGeom>
          <a:noFill/>
          <a:ln>
            <a:noFill/>
          </a:ln>
        </p:spPr>
      </p:pic>
      <p:pic>
        <p:nvPicPr>
          <p:cNvPr id="280" name="Google Shape;280;p26" descr="image.png"/>
          <p:cNvPicPr preferRelativeResize="0"/>
          <p:nvPr/>
        </p:nvPicPr>
        <p:blipFill rotWithShape="1">
          <a:blip r:embed="rId5">
            <a:alphaModFix/>
          </a:blip>
          <a:srcRect/>
          <a:stretch/>
        </p:blipFill>
        <p:spPr>
          <a:xfrm>
            <a:off x="571500" y="3995737"/>
            <a:ext cx="142875" cy="247650"/>
          </a:xfrm>
          <a:prstGeom prst="rect">
            <a:avLst/>
          </a:prstGeom>
          <a:noFill/>
          <a:ln>
            <a:noFill/>
          </a:ln>
        </p:spPr>
      </p:pic>
      <p:pic>
        <p:nvPicPr>
          <p:cNvPr id="281" name="Google Shape;281;p26" descr="image.png"/>
          <p:cNvPicPr preferRelativeResize="0"/>
          <p:nvPr/>
        </p:nvPicPr>
        <p:blipFill rotWithShape="1">
          <a:blip r:embed="rId5">
            <a:alphaModFix/>
          </a:blip>
          <a:srcRect/>
          <a:stretch/>
        </p:blipFill>
        <p:spPr>
          <a:xfrm>
            <a:off x="571500" y="4904184"/>
            <a:ext cx="142875" cy="247650"/>
          </a:xfrm>
          <a:prstGeom prst="rect">
            <a:avLst/>
          </a:prstGeom>
          <a:noFill/>
          <a:ln>
            <a:noFill/>
          </a:ln>
        </p:spPr>
      </p:pic>
      <p:pic>
        <p:nvPicPr>
          <p:cNvPr id="3" name="Picture 2">
            <a:extLst>
              <a:ext uri="{FF2B5EF4-FFF2-40B4-BE49-F238E27FC236}">
                <a16:creationId xmlns:a16="http://schemas.microsoft.com/office/drawing/2014/main" id="{A289DC2E-7A9B-E057-4C05-C117F482E74B}"/>
              </a:ext>
            </a:extLst>
          </p:cNvPr>
          <p:cNvPicPr>
            <a:picLocks noChangeAspect="1"/>
          </p:cNvPicPr>
          <p:nvPr/>
        </p:nvPicPr>
        <p:blipFill>
          <a:blip r:embed="rId6"/>
          <a:stretch>
            <a:fillRect/>
          </a:stretch>
        </p:blipFill>
        <p:spPr>
          <a:xfrm>
            <a:off x="6334124" y="1674538"/>
            <a:ext cx="5286375" cy="4611962"/>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1F2937"/>
        </a:solidFill>
        <a:effectLst/>
      </p:bgPr>
    </p:bg>
    <p:spTree>
      <p:nvGrpSpPr>
        <p:cNvPr id="1" name="Shape 285"/>
        <p:cNvGrpSpPr/>
        <p:nvPr/>
      </p:nvGrpSpPr>
      <p:grpSpPr>
        <a:xfrm>
          <a:off x="0" y="0"/>
          <a:ext cx="0" cy="0"/>
          <a:chOff x="0" y="0"/>
          <a:chExt cx="0" cy="0"/>
        </a:xfrm>
      </p:grpSpPr>
      <p:pic>
        <p:nvPicPr>
          <p:cNvPr id="286" name="Google Shape;286;p27" descr="image.png"/>
          <p:cNvPicPr preferRelativeResize="0"/>
          <p:nvPr/>
        </p:nvPicPr>
        <p:blipFill rotWithShape="1">
          <a:blip r:embed="rId3">
            <a:alphaModFix/>
          </a:blip>
          <a:srcRect/>
          <a:stretch/>
        </p:blipFill>
        <p:spPr>
          <a:xfrm>
            <a:off x="0" y="8313"/>
            <a:ext cx="12192000" cy="6858000"/>
          </a:xfrm>
          <a:prstGeom prst="rect">
            <a:avLst/>
          </a:prstGeom>
          <a:noFill/>
          <a:ln>
            <a:noFill/>
          </a:ln>
        </p:spPr>
      </p:pic>
      <p:pic>
        <p:nvPicPr>
          <p:cNvPr id="287" name="Google Shape;287;p27" descr="image.png"/>
          <p:cNvPicPr preferRelativeResize="0"/>
          <p:nvPr/>
        </p:nvPicPr>
        <p:blipFill rotWithShape="1">
          <a:blip r:embed="rId4">
            <a:alphaModFix/>
          </a:blip>
          <a:srcRect/>
          <a:stretch/>
        </p:blipFill>
        <p:spPr>
          <a:xfrm>
            <a:off x="571500" y="1019175"/>
            <a:ext cx="3492400" cy="2647950"/>
          </a:xfrm>
          <a:prstGeom prst="rect">
            <a:avLst/>
          </a:prstGeom>
          <a:noFill/>
          <a:ln>
            <a:noFill/>
          </a:ln>
        </p:spPr>
      </p:pic>
      <p:pic>
        <p:nvPicPr>
          <p:cNvPr id="288" name="Google Shape;288;p27" descr="image.png"/>
          <p:cNvPicPr preferRelativeResize="0"/>
          <p:nvPr/>
        </p:nvPicPr>
        <p:blipFill rotWithShape="1">
          <a:blip r:embed="rId5">
            <a:alphaModFix/>
          </a:blip>
          <a:srcRect/>
          <a:stretch/>
        </p:blipFill>
        <p:spPr>
          <a:xfrm>
            <a:off x="4349650" y="1019175"/>
            <a:ext cx="3492549" cy="2647950"/>
          </a:xfrm>
          <a:prstGeom prst="rect">
            <a:avLst/>
          </a:prstGeom>
          <a:noFill/>
          <a:ln>
            <a:noFill/>
          </a:ln>
        </p:spPr>
      </p:pic>
      <p:pic>
        <p:nvPicPr>
          <p:cNvPr id="289" name="Google Shape;289;p27" descr="image.png"/>
          <p:cNvPicPr preferRelativeResize="0"/>
          <p:nvPr/>
        </p:nvPicPr>
        <p:blipFill rotWithShape="1">
          <a:blip r:embed="rId4">
            <a:alphaModFix/>
          </a:blip>
          <a:srcRect/>
          <a:stretch/>
        </p:blipFill>
        <p:spPr>
          <a:xfrm>
            <a:off x="8127950" y="1019175"/>
            <a:ext cx="3492400" cy="2647950"/>
          </a:xfrm>
          <a:prstGeom prst="rect">
            <a:avLst/>
          </a:prstGeom>
          <a:noFill/>
          <a:ln>
            <a:noFill/>
          </a:ln>
        </p:spPr>
      </p:pic>
      <p:pic>
        <p:nvPicPr>
          <p:cNvPr id="290" name="Google Shape;290;p27" descr="image.png"/>
          <p:cNvPicPr preferRelativeResize="0"/>
          <p:nvPr/>
        </p:nvPicPr>
        <p:blipFill rotWithShape="1">
          <a:blip r:embed="rId6">
            <a:alphaModFix/>
          </a:blip>
          <a:srcRect/>
          <a:stretch/>
        </p:blipFill>
        <p:spPr>
          <a:xfrm>
            <a:off x="571500" y="3952875"/>
            <a:ext cx="3492400" cy="2790825"/>
          </a:xfrm>
          <a:prstGeom prst="rect">
            <a:avLst/>
          </a:prstGeom>
          <a:noFill/>
          <a:ln>
            <a:noFill/>
          </a:ln>
        </p:spPr>
      </p:pic>
      <p:pic>
        <p:nvPicPr>
          <p:cNvPr id="291" name="Google Shape;291;p27" descr="image.png"/>
          <p:cNvPicPr preferRelativeResize="0"/>
          <p:nvPr/>
        </p:nvPicPr>
        <p:blipFill rotWithShape="1">
          <a:blip r:embed="rId7">
            <a:alphaModFix/>
          </a:blip>
          <a:srcRect/>
          <a:stretch/>
        </p:blipFill>
        <p:spPr>
          <a:xfrm>
            <a:off x="4349650" y="3952875"/>
            <a:ext cx="3492549" cy="2790825"/>
          </a:xfrm>
          <a:prstGeom prst="rect">
            <a:avLst/>
          </a:prstGeom>
          <a:noFill/>
          <a:ln>
            <a:noFill/>
          </a:ln>
        </p:spPr>
      </p:pic>
      <p:pic>
        <p:nvPicPr>
          <p:cNvPr id="292" name="Google Shape;292;p27" descr="image.png"/>
          <p:cNvPicPr preferRelativeResize="0"/>
          <p:nvPr/>
        </p:nvPicPr>
        <p:blipFill rotWithShape="1">
          <a:blip r:embed="rId6">
            <a:alphaModFix/>
          </a:blip>
          <a:srcRect/>
          <a:stretch/>
        </p:blipFill>
        <p:spPr>
          <a:xfrm>
            <a:off x="8127950" y="3952875"/>
            <a:ext cx="3492400" cy="2790825"/>
          </a:xfrm>
          <a:prstGeom prst="rect">
            <a:avLst/>
          </a:prstGeom>
          <a:noFill/>
          <a:ln>
            <a:noFill/>
          </a:ln>
        </p:spPr>
      </p:pic>
      <p:sp>
        <p:nvSpPr>
          <p:cNvPr id="293" name="Google Shape;293;p27"/>
          <p:cNvSpPr txBox="1"/>
          <p:nvPr/>
        </p:nvSpPr>
        <p:spPr>
          <a:xfrm>
            <a:off x="857250" y="1990725"/>
            <a:ext cx="3066945" cy="3333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0" i="0" u="none" strike="noStrike" cap="none">
                <a:solidFill>
                  <a:srgbClr val="FFFFFF"/>
                </a:solidFill>
                <a:latin typeface="Poppins Medium"/>
                <a:ea typeface="Poppins Medium"/>
                <a:cs typeface="Poppins Medium"/>
                <a:sym typeface="Poppins Medium"/>
              </a:rPr>
              <a:t>1. Optimize Peak Staffing</a:t>
            </a:r>
            <a:endParaRPr/>
          </a:p>
        </p:txBody>
      </p:sp>
      <p:sp>
        <p:nvSpPr>
          <p:cNvPr id="294" name="Google Shape;294;p27"/>
          <p:cNvSpPr txBox="1"/>
          <p:nvPr/>
        </p:nvSpPr>
        <p:spPr>
          <a:xfrm>
            <a:off x="857250" y="2466975"/>
            <a:ext cx="2920900" cy="77152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0" i="0" u="none" strike="noStrike" cap="none">
                <a:solidFill>
                  <a:srgbClr val="D1D5DB"/>
                </a:solidFill>
                <a:latin typeface="Lato"/>
                <a:ea typeface="Lato"/>
                <a:cs typeface="Lato"/>
                <a:sym typeface="Lato"/>
              </a:rPr>
              <a:t>Shift agent schedules dynamically to match the identified daytime volume spikes, minimizing wait times.</a:t>
            </a:r>
            <a:endParaRPr/>
          </a:p>
        </p:txBody>
      </p:sp>
      <p:sp>
        <p:nvSpPr>
          <p:cNvPr id="295" name="Google Shape;295;p27"/>
          <p:cNvSpPr txBox="1"/>
          <p:nvPr/>
        </p:nvSpPr>
        <p:spPr>
          <a:xfrm>
            <a:off x="4635400" y="1990725"/>
            <a:ext cx="3067102" cy="3333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0" i="0" u="none" strike="noStrike" cap="none">
                <a:solidFill>
                  <a:srgbClr val="FFFFFF"/>
                </a:solidFill>
                <a:latin typeface="Poppins Medium"/>
                <a:ea typeface="Poppins Medium"/>
                <a:cs typeface="Poppins Medium"/>
                <a:sym typeface="Poppins Medium"/>
              </a:rPr>
              <a:t>2. Balance Workload</a:t>
            </a:r>
            <a:endParaRPr/>
          </a:p>
        </p:txBody>
      </p:sp>
      <p:sp>
        <p:nvSpPr>
          <p:cNvPr id="296" name="Google Shape;296;p27"/>
          <p:cNvSpPr txBox="1"/>
          <p:nvPr/>
        </p:nvSpPr>
        <p:spPr>
          <a:xfrm>
            <a:off x="4635400" y="2466975"/>
            <a:ext cx="2921049" cy="77152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0" i="0" u="none" strike="noStrike" cap="none">
                <a:solidFill>
                  <a:srgbClr val="D1D5DB"/>
                </a:solidFill>
                <a:latin typeface="Lato"/>
                <a:ea typeface="Lato"/>
                <a:cs typeface="Lato"/>
                <a:sym typeface="Lato"/>
              </a:rPr>
              <a:t>Implement an intelligent routing ACD to distribute calls evenly, preventing burnout among top performers.</a:t>
            </a:r>
            <a:endParaRPr/>
          </a:p>
        </p:txBody>
      </p:sp>
      <p:sp>
        <p:nvSpPr>
          <p:cNvPr id="297" name="Google Shape;297;p27"/>
          <p:cNvSpPr txBox="1"/>
          <p:nvPr/>
        </p:nvSpPr>
        <p:spPr>
          <a:xfrm>
            <a:off x="8413700" y="1990725"/>
            <a:ext cx="3066945" cy="3333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0" i="0" u="none" strike="noStrike" cap="none">
                <a:solidFill>
                  <a:srgbClr val="FFFFFF"/>
                </a:solidFill>
                <a:latin typeface="Poppins Medium"/>
                <a:ea typeface="Poppins Medium"/>
                <a:cs typeface="Poppins Medium"/>
                <a:sym typeface="Poppins Medium"/>
              </a:rPr>
              <a:t>3. Elevate Standards</a:t>
            </a:r>
            <a:endParaRPr/>
          </a:p>
        </p:txBody>
      </p:sp>
      <p:sp>
        <p:nvSpPr>
          <p:cNvPr id="298" name="Google Shape;298;p27"/>
          <p:cNvSpPr txBox="1"/>
          <p:nvPr/>
        </p:nvSpPr>
        <p:spPr>
          <a:xfrm>
            <a:off x="8413700" y="2466975"/>
            <a:ext cx="2920900" cy="77152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0" i="0" u="none" strike="noStrike" cap="none">
                <a:solidFill>
                  <a:srgbClr val="D1D5DB"/>
                </a:solidFill>
                <a:latin typeface="Lato"/>
                <a:ea typeface="Lato"/>
                <a:cs typeface="Lato"/>
                <a:sym typeface="Lato"/>
              </a:rPr>
              <a:t>Deploy targeted QA and upskilling programs specifically designed to lift the stagnant 2.93 average CSAT.</a:t>
            </a:r>
            <a:endParaRPr/>
          </a:p>
        </p:txBody>
      </p:sp>
      <p:sp>
        <p:nvSpPr>
          <p:cNvPr id="299" name="Google Shape;299;p27"/>
          <p:cNvSpPr txBox="1"/>
          <p:nvPr/>
        </p:nvSpPr>
        <p:spPr>
          <a:xfrm>
            <a:off x="857250" y="4924425"/>
            <a:ext cx="3066945" cy="3333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0" i="0" u="none" strike="noStrike" cap="none">
                <a:solidFill>
                  <a:srgbClr val="FFFFFF"/>
                </a:solidFill>
                <a:latin typeface="Poppins Medium"/>
                <a:ea typeface="Poppins Medium"/>
                <a:cs typeface="Poppins Medium"/>
                <a:sym typeface="Poppins Medium"/>
              </a:rPr>
              <a:t>4. Forecast Proactively</a:t>
            </a:r>
            <a:endParaRPr/>
          </a:p>
        </p:txBody>
      </p:sp>
      <p:sp>
        <p:nvSpPr>
          <p:cNvPr id="300" name="Google Shape;300;p27"/>
          <p:cNvSpPr txBox="1"/>
          <p:nvPr/>
        </p:nvSpPr>
        <p:spPr>
          <a:xfrm>
            <a:off x="857250" y="5400675"/>
            <a:ext cx="2920900" cy="77152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0" i="0" u="none" strike="noStrike" cap="none">
                <a:solidFill>
                  <a:srgbClr val="D1D5DB"/>
                </a:solidFill>
                <a:latin typeface="Lato"/>
                <a:ea typeface="Lato"/>
                <a:cs typeface="Lato"/>
                <a:sym typeface="Lato"/>
              </a:rPr>
              <a:t>Utilize historical daily volume trends to build predictive models for advanced shift planning.</a:t>
            </a:r>
            <a:endParaRPr/>
          </a:p>
        </p:txBody>
      </p:sp>
      <p:sp>
        <p:nvSpPr>
          <p:cNvPr id="301" name="Google Shape;301;p27"/>
          <p:cNvSpPr txBox="1"/>
          <p:nvPr/>
        </p:nvSpPr>
        <p:spPr>
          <a:xfrm>
            <a:off x="4635400" y="4924425"/>
            <a:ext cx="3067102" cy="3333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0" i="0" u="none" strike="noStrike" cap="none">
                <a:solidFill>
                  <a:srgbClr val="FFFFFF"/>
                </a:solidFill>
                <a:latin typeface="Poppins Medium"/>
                <a:ea typeface="Poppins Medium"/>
                <a:cs typeface="Poppins Medium"/>
                <a:sym typeface="Poppins Medium"/>
              </a:rPr>
              <a:t>5. Stabilize Infrastructure</a:t>
            </a:r>
            <a:endParaRPr/>
          </a:p>
        </p:txBody>
      </p:sp>
      <p:sp>
        <p:nvSpPr>
          <p:cNvPr id="302" name="Google Shape;302;p27"/>
          <p:cNvSpPr txBox="1"/>
          <p:nvPr/>
        </p:nvSpPr>
        <p:spPr>
          <a:xfrm>
            <a:off x="4635400" y="5400675"/>
            <a:ext cx="2921049" cy="77152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0" i="0" u="none" strike="noStrike" cap="none">
                <a:solidFill>
                  <a:srgbClr val="D1D5DB"/>
                </a:solidFill>
                <a:latin typeface="Lato"/>
                <a:ea typeface="Lato"/>
                <a:cs typeface="Lato"/>
                <a:sym typeface="Lato"/>
              </a:rPr>
              <a:t>Allocate funds to stabilize the chat infrastructure, directly addressing the high failure and drop rates.</a:t>
            </a:r>
            <a:endParaRPr/>
          </a:p>
        </p:txBody>
      </p:sp>
      <p:sp>
        <p:nvSpPr>
          <p:cNvPr id="303" name="Google Shape;303;p27"/>
          <p:cNvSpPr txBox="1"/>
          <p:nvPr/>
        </p:nvSpPr>
        <p:spPr>
          <a:xfrm>
            <a:off x="8413700" y="4924425"/>
            <a:ext cx="3066945" cy="6667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0" i="0" u="none" strike="noStrike" cap="none" dirty="0">
                <a:solidFill>
                  <a:srgbClr val="FFFFFF"/>
                </a:solidFill>
                <a:latin typeface="Poppins Medium"/>
                <a:ea typeface="Poppins Medium"/>
                <a:cs typeface="Poppins Medium"/>
                <a:sym typeface="Poppins Medium"/>
              </a:rPr>
              <a:t>6. Boost Web Engagement</a:t>
            </a:r>
            <a:endParaRPr dirty="0"/>
          </a:p>
        </p:txBody>
      </p:sp>
      <p:sp>
        <p:nvSpPr>
          <p:cNvPr id="304" name="Google Shape;304;p27"/>
          <p:cNvSpPr txBox="1"/>
          <p:nvPr/>
        </p:nvSpPr>
        <p:spPr>
          <a:xfrm>
            <a:off x="8413700" y="5434012"/>
            <a:ext cx="2920900" cy="77152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0" i="0" u="none" strike="noStrike" cap="none" dirty="0">
                <a:solidFill>
                  <a:srgbClr val="D1D5DB"/>
                </a:solidFill>
                <a:latin typeface="Lato"/>
                <a:ea typeface="Lato"/>
                <a:cs typeface="Lato"/>
                <a:sym typeface="Lato"/>
              </a:rPr>
              <a:t>Launch targeted UX improvements for the </a:t>
            </a:r>
            <a:r>
              <a:rPr lang="en-US" sz="1350" b="0" i="0" u="none" strike="noStrike" cap="none" dirty="0" err="1">
                <a:solidFill>
                  <a:srgbClr val="D1D5DB"/>
                </a:solidFill>
                <a:latin typeface="Lato"/>
                <a:ea typeface="Lato"/>
                <a:cs typeface="Lato"/>
                <a:sym typeface="Lato"/>
              </a:rPr>
              <a:t>GuruCool</a:t>
            </a:r>
            <a:r>
              <a:rPr lang="en-US" sz="1350" b="0" i="0" u="none" strike="noStrike" cap="none" dirty="0">
                <a:solidFill>
                  <a:srgbClr val="D1D5DB"/>
                </a:solidFill>
                <a:latin typeface="Lato"/>
                <a:ea typeface="Lato"/>
                <a:cs typeface="Lato"/>
                <a:sym typeface="Lato"/>
              </a:rPr>
              <a:t> platform to bridge the revenue gap with the mobile app.</a:t>
            </a:r>
            <a:endParaRPr dirty="0"/>
          </a:p>
        </p:txBody>
      </p:sp>
      <p:pic>
        <p:nvPicPr>
          <p:cNvPr id="305" name="Google Shape;305;p27" descr="image.png"/>
          <p:cNvPicPr preferRelativeResize="0"/>
          <p:nvPr/>
        </p:nvPicPr>
        <p:blipFill rotWithShape="1">
          <a:blip r:embed="rId8">
            <a:alphaModFix/>
          </a:blip>
          <a:srcRect/>
          <a:stretch/>
        </p:blipFill>
        <p:spPr>
          <a:xfrm>
            <a:off x="857250" y="1381125"/>
            <a:ext cx="381000" cy="381000"/>
          </a:xfrm>
          <a:prstGeom prst="rect">
            <a:avLst/>
          </a:prstGeom>
          <a:noFill/>
          <a:ln>
            <a:noFill/>
          </a:ln>
        </p:spPr>
      </p:pic>
      <p:pic>
        <p:nvPicPr>
          <p:cNvPr id="306" name="Google Shape;306;p27" descr="image.png"/>
          <p:cNvPicPr preferRelativeResize="0"/>
          <p:nvPr/>
        </p:nvPicPr>
        <p:blipFill rotWithShape="1">
          <a:blip r:embed="rId9">
            <a:alphaModFix/>
          </a:blip>
          <a:srcRect/>
          <a:stretch/>
        </p:blipFill>
        <p:spPr>
          <a:xfrm>
            <a:off x="4635400" y="1381125"/>
            <a:ext cx="476250" cy="381000"/>
          </a:xfrm>
          <a:prstGeom prst="rect">
            <a:avLst/>
          </a:prstGeom>
          <a:noFill/>
          <a:ln>
            <a:noFill/>
          </a:ln>
        </p:spPr>
      </p:pic>
      <p:pic>
        <p:nvPicPr>
          <p:cNvPr id="307" name="Google Shape;307;p27" descr="image.png"/>
          <p:cNvPicPr preferRelativeResize="0"/>
          <p:nvPr/>
        </p:nvPicPr>
        <p:blipFill rotWithShape="1">
          <a:blip r:embed="rId10">
            <a:alphaModFix/>
          </a:blip>
          <a:srcRect/>
          <a:stretch/>
        </p:blipFill>
        <p:spPr>
          <a:xfrm>
            <a:off x="8413700" y="1381125"/>
            <a:ext cx="476250" cy="381000"/>
          </a:xfrm>
          <a:prstGeom prst="rect">
            <a:avLst/>
          </a:prstGeom>
          <a:noFill/>
          <a:ln>
            <a:noFill/>
          </a:ln>
        </p:spPr>
      </p:pic>
      <p:pic>
        <p:nvPicPr>
          <p:cNvPr id="308" name="Google Shape;308;p27" descr="image.png"/>
          <p:cNvPicPr preferRelativeResize="0"/>
          <p:nvPr/>
        </p:nvPicPr>
        <p:blipFill rotWithShape="1">
          <a:blip r:embed="rId11">
            <a:alphaModFix/>
          </a:blip>
          <a:srcRect/>
          <a:stretch/>
        </p:blipFill>
        <p:spPr>
          <a:xfrm>
            <a:off x="857250" y="4314825"/>
            <a:ext cx="428625" cy="381000"/>
          </a:xfrm>
          <a:prstGeom prst="rect">
            <a:avLst/>
          </a:prstGeom>
          <a:noFill/>
          <a:ln>
            <a:noFill/>
          </a:ln>
        </p:spPr>
      </p:pic>
      <p:pic>
        <p:nvPicPr>
          <p:cNvPr id="309" name="Google Shape;309;p27" descr="image.png"/>
          <p:cNvPicPr preferRelativeResize="0"/>
          <p:nvPr/>
        </p:nvPicPr>
        <p:blipFill rotWithShape="1">
          <a:blip r:embed="rId12">
            <a:alphaModFix/>
          </a:blip>
          <a:srcRect/>
          <a:stretch/>
        </p:blipFill>
        <p:spPr>
          <a:xfrm>
            <a:off x="4635400" y="4314825"/>
            <a:ext cx="381000" cy="381000"/>
          </a:xfrm>
          <a:prstGeom prst="rect">
            <a:avLst/>
          </a:prstGeom>
          <a:noFill/>
          <a:ln>
            <a:noFill/>
          </a:ln>
        </p:spPr>
      </p:pic>
      <p:pic>
        <p:nvPicPr>
          <p:cNvPr id="310" name="Google Shape;310;p27" descr="image.png"/>
          <p:cNvPicPr preferRelativeResize="0"/>
          <p:nvPr/>
        </p:nvPicPr>
        <p:blipFill rotWithShape="1">
          <a:blip r:embed="rId13">
            <a:alphaModFix/>
          </a:blip>
          <a:srcRect/>
          <a:stretch/>
        </p:blipFill>
        <p:spPr>
          <a:xfrm>
            <a:off x="8413700" y="4314825"/>
            <a:ext cx="285750" cy="381000"/>
          </a:xfrm>
          <a:prstGeom prst="rect">
            <a:avLst/>
          </a:prstGeom>
          <a:noFill/>
          <a:ln>
            <a:noFill/>
          </a:ln>
        </p:spPr>
      </p:pic>
      <p:sp>
        <p:nvSpPr>
          <p:cNvPr id="311" name="Google Shape;311;p27"/>
          <p:cNvSpPr txBox="1"/>
          <p:nvPr/>
        </p:nvSpPr>
        <p:spPr>
          <a:xfrm>
            <a:off x="590550" y="122613"/>
            <a:ext cx="11601450" cy="6191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0" i="0" u="none" strike="noStrike" cap="none" dirty="0">
                <a:solidFill>
                  <a:srgbClr val="FACC15"/>
                </a:solidFill>
                <a:latin typeface="Poppins SemiBold"/>
                <a:ea typeface="Poppins SemiBold"/>
                <a:cs typeface="Poppins SemiBold"/>
                <a:sym typeface="Poppins SemiBold"/>
              </a:rPr>
              <a:t>Data-Driven Strategic Recommendations</a:t>
            </a:r>
            <a:endParaRPr dirty="0"/>
          </a:p>
        </p:txBody>
      </p:sp>
      <p:sp>
        <p:nvSpPr>
          <p:cNvPr id="312" name="Google Shape;312;p27"/>
          <p:cNvSpPr/>
          <p:nvPr/>
        </p:nvSpPr>
        <p:spPr>
          <a:xfrm>
            <a:off x="571500" y="619125"/>
            <a:ext cx="11049000" cy="19050"/>
          </a:xfrm>
          <a:prstGeom prst="rect">
            <a:avLst/>
          </a:prstGeom>
          <a:solidFill>
            <a:srgbClr val="37415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1F2937"/>
        </a:solidFill>
        <a:effectLst/>
      </p:bgPr>
    </p:bg>
    <p:spTree>
      <p:nvGrpSpPr>
        <p:cNvPr id="1" name="Shape 316"/>
        <p:cNvGrpSpPr/>
        <p:nvPr/>
      </p:nvGrpSpPr>
      <p:grpSpPr>
        <a:xfrm>
          <a:off x="0" y="0"/>
          <a:ext cx="0" cy="0"/>
          <a:chOff x="0" y="0"/>
          <a:chExt cx="0" cy="0"/>
        </a:xfrm>
      </p:grpSpPr>
      <p:pic>
        <p:nvPicPr>
          <p:cNvPr id="317" name="Google Shape;317;p28"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318" name="Google Shape;318;p28" descr="image.png"/>
          <p:cNvPicPr preferRelativeResize="0"/>
          <p:nvPr/>
        </p:nvPicPr>
        <p:blipFill rotWithShape="1">
          <a:blip r:embed="rId4">
            <a:alphaModFix/>
          </a:blip>
          <a:srcRect/>
          <a:stretch/>
        </p:blipFill>
        <p:spPr>
          <a:xfrm>
            <a:off x="590550" y="1500187"/>
            <a:ext cx="11029950" cy="4953000"/>
          </a:xfrm>
          <a:prstGeom prst="rect">
            <a:avLst/>
          </a:prstGeom>
          <a:noFill/>
          <a:ln>
            <a:noFill/>
          </a:ln>
        </p:spPr>
      </p:pic>
      <p:sp>
        <p:nvSpPr>
          <p:cNvPr id="319" name="Google Shape;319;p28"/>
          <p:cNvSpPr txBox="1"/>
          <p:nvPr/>
        </p:nvSpPr>
        <p:spPr>
          <a:xfrm>
            <a:off x="571500" y="404812"/>
            <a:ext cx="11601450" cy="6191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0" i="0" u="none" strike="noStrike" cap="none">
                <a:solidFill>
                  <a:srgbClr val="FACC15"/>
                </a:solidFill>
                <a:latin typeface="Poppins SemiBold"/>
                <a:ea typeface="Poppins SemiBold"/>
                <a:cs typeface="Poppins SemiBold"/>
                <a:sym typeface="Poppins SemiBold"/>
              </a:rPr>
              <a:t>Interactive Performance Dashboard</a:t>
            </a:r>
            <a:endParaRPr/>
          </a:p>
        </p:txBody>
      </p:sp>
      <p:sp>
        <p:nvSpPr>
          <p:cNvPr id="320" name="Google Shape;320;p28"/>
          <p:cNvSpPr/>
          <p:nvPr/>
        </p:nvSpPr>
        <p:spPr>
          <a:xfrm>
            <a:off x="571500" y="1100137"/>
            <a:ext cx="11049000" cy="19050"/>
          </a:xfrm>
          <a:prstGeom prst="rect">
            <a:avLst/>
          </a:prstGeom>
          <a:solidFill>
            <a:srgbClr val="37415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4" name="Picture 3">
            <a:extLst>
              <a:ext uri="{FF2B5EF4-FFF2-40B4-BE49-F238E27FC236}">
                <a16:creationId xmlns:a16="http://schemas.microsoft.com/office/drawing/2014/main" id="{38A68D4F-4086-EDB2-5A42-DA063D0AD16D}"/>
              </a:ext>
            </a:extLst>
          </p:cNvPr>
          <p:cNvPicPr>
            <a:picLocks noChangeAspect="1"/>
          </p:cNvPicPr>
          <p:nvPr/>
        </p:nvPicPr>
        <p:blipFill>
          <a:blip r:embed="rId5"/>
          <a:stretch>
            <a:fillRect/>
          </a:stretch>
        </p:blipFill>
        <p:spPr>
          <a:xfrm>
            <a:off x="590550" y="1500186"/>
            <a:ext cx="11029950" cy="49530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1F2937"/>
        </a:solidFill>
        <a:effectLst/>
      </p:bgPr>
    </p:bg>
    <p:spTree>
      <p:nvGrpSpPr>
        <p:cNvPr id="1" name="Shape 324"/>
        <p:cNvGrpSpPr/>
        <p:nvPr/>
      </p:nvGrpSpPr>
      <p:grpSpPr>
        <a:xfrm>
          <a:off x="0" y="0"/>
          <a:ext cx="0" cy="0"/>
          <a:chOff x="0" y="0"/>
          <a:chExt cx="0" cy="0"/>
        </a:xfrm>
      </p:grpSpPr>
      <p:pic>
        <p:nvPicPr>
          <p:cNvPr id="325" name="Google Shape;325;p29"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326" name="Google Shape;326;p29" descr="image.png"/>
          <p:cNvPicPr preferRelativeResize="0"/>
          <p:nvPr/>
        </p:nvPicPr>
        <p:blipFill rotWithShape="1">
          <a:blip r:embed="rId4">
            <a:alphaModFix/>
          </a:blip>
          <a:srcRect/>
          <a:stretch/>
        </p:blipFill>
        <p:spPr>
          <a:xfrm>
            <a:off x="1809750" y="1878508"/>
            <a:ext cx="8572500" cy="952500"/>
          </a:xfrm>
          <a:prstGeom prst="rect">
            <a:avLst/>
          </a:prstGeom>
          <a:noFill/>
          <a:ln>
            <a:noFill/>
          </a:ln>
        </p:spPr>
      </p:pic>
      <p:sp>
        <p:nvSpPr>
          <p:cNvPr id="327" name="Google Shape;327;p29"/>
          <p:cNvSpPr txBox="1"/>
          <p:nvPr/>
        </p:nvSpPr>
        <p:spPr>
          <a:xfrm>
            <a:off x="1809750" y="3212008"/>
            <a:ext cx="8572500" cy="2719982"/>
          </a:xfrm>
          <a:prstGeom prst="rect">
            <a:avLst/>
          </a:prstGeom>
          <a:noFill/>
          <a:ln>
            <a:noFill/>
          </a:ln>
        </p:spPr>
        <p:txBody>
          <a:bodyPr spcFirstLastPara="1" wrap="square" lIns="0" tIns="0" rIns="0" bIns="0" anchor="t" anchorCtr="0">
            <a:spAutoFit/>
          </a:bodyPr>
          <a:lstStyle/>
          <a:p>
            <a:pPr marL="0" marR="0" lvl="0" indent="0" algn="ctr" rtl="0">
              <a:lnSpc>
                <a:spcPct val="170000"/>
              </a:lnSpc>
              <a:spcBef>
                <a:spcPts val="0"/>
              </a:spcBef>
              <a:spcAft>
                <a:spcPts val="0"/>
              </a:spcAft>
              <a:buNone/>
            </a:pPr>
            <a:r>
              <a:rPr lang="en-US" sz="2100" b="0" i="0" u="none" strike="noStrike" cap="none">
                <a:solidFill>
                  <a:srgbClr val="E5E7EB"/>
                </a:solidFill>
                <a:latin typeface="Lato"/>
                <a:ea typeface="Lato"/>
                <a:cs typeface="Lato"/>
                <a:sym typeface="Lato"/>
              </a:rPr>
              <a:t>The operational data reveals clear avenues for high-ROI improvements. While overall capacity is sufficient, inefficiencies in routing algorithms and inconsistent service quality are hampering growth. By directing the ₹1 crore investment toward intelligent workload distribution, robust technical infrastructure, and agent upskilling, AstroSage can drastically elevate user satisfaction and secure long-term profitability.</a:t>
            </a:r>
            <a:endParaRPr/>
          </a:p>
        </p:txBody>
      </p:sp>
      <p:sp>
        <p:nvSpPr>
          <p:cNvPr id="328" name="Google Shape;328;p29"/>
          <p:cNvSpPr txBox="1"/>
          <p:nvPr/>
        </p:nvSpPr>
        <p:spPr>
          <a:xfrm>
            <a:off x="571500" y="571500"/>
            <a:ext cx="11601450" cy="6191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0" i="0" u="none" strike="noStrike" cap="none">
                <a:solidFill>
                  <a:srgbClr val="FACC15"/>
                </a:solidFill>
                <a:latin typeface="Poppins SemiBold"/>
                <a:ea typeface="Poppins SemiBold"/>
                <a:cs typeface="Poppins SemiBold"/>
                <a:sym typeface="Poppins SemiBold"/>
              </a:rPr>
              <a:t>Conclusion</a:t>
            </a:r>
            <a:endParaRPr/>
          </a:p>
        </p:txBody>
      </p:sp>
      <p:sp>
        <p:nvSpPr>
          <p:cNvPr id="329" name="Google Shape;329;p29"/>
          <p:cNvSpPr/>
          <p:nvPr/>
        </p:nvSpPr>
        <p:spPr>
          <a:xfrm>
            <a:off x="571500" y="1266825"/>
            <a:ext cx="11049000" cy="19050"/>
          </a:xfrm>
          <a:prstGeom prst="rect">
            <a:avLst/>
          </a:prstGeom>
          <a:solidFill>
            <a:srgbClr val="37415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1F2937"/>
        </a:solidFill>
        <a:effectLst/>
      </p:bgPr>
    </p:bg>
    <p:spTree>
      <p:nvGrpSpPr>
        <p:cNvPr id="1" name="Shape 333"/>
        <p:cNvGrpSpPr/>
        <p:nvPr/>
      </p:nvGrpSpPr>
      <p:grpSpPr>
        <a:xfrm>
          <a:off x="0" y="0"/>
          <a:ext cx="0" cy="0"/>
          <a:chOff x="0" y="0"/>
          <a:chExt cx="0" cy="0"/>
        </a:xfrm>
      </p:grpSpPr>
      <p:pic>
        <p:nvPicPr>
          <p:cNvPr id="334" name="Google Shape;334;p30"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335" name="Google Shape;335;p30" descr="image.png"/>
          <p:cNvPicPr preferRelativeResize="0"/>
          <p:nvPr/>
        </p:nvPicPr>
        <p:blipFill rotWithShape="1">
          <a:blip r:embed="rId4">
            <a:alphaModFix/>
          </a:blip>
          <a:srcRect/>
          <a:stretch/>
        </p:blipFill>
        <p:spPr>
          <a:xfrm>
            <a:off x="1333500" y="1939230"/>
            <a:ext cx="9525000" cy="952500"/>
          </a:xfrm>
          <a:prstGeom prst="rect">
            <a:avLst/>
          </a:prstGeom>
          <a:noFill/>
          <a:ln>
            <a:noFill/>
          </a:ln>
        </p:spPr>
      </p:pic>
      <p:sp>
        <p:nvSpPr>
          <p:cNvPr id="336" name="Google Shape;336;p30"/>
          <p:cNvSpPr txBox="1"/>
          <p:nvPr/>
        </p:nvSpPr>
        <p:spPr>
          <a:xfrm>
            <a:off x="1095375" y="3272730"/>
            <a:ext cx="10001250" cy="742950"/>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en-US" sz="4875" b="1" i="0" u="none" strike="noStrike" cap="none">
                <a:solidFill>
                  <a:srgbClr val="FACC15"/>
                </a:solidFill>
                <a:latin typeface="Poppins"/>
                <a:ea typeface="Poppins"/>
                <a:cs typeface="Poppins"/>
                <a:sym typeface="Poppins"/>
              </a:rPr>
              <a:t>Thank You</a:t>
            </a:r>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28</TotalTime>
  <Words>958</Words>
  <Application>Microsoft Office PowerPoint</Application>
  <PresentationFormat>Widescreen</PresentationFormat>
  <Paragraphs>84</Paragraphs>
  <Slides>18</Slides>
  <Notes>18</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18</vt:i4>
      </vt:variant>
    </vt:vector>
  </HeadingPairs>
  <TitlesOfParts>
    <vt:vector size="25" baseType="lpstr">
      <vt:lpstr>Calibri</vt:lpstr>
      <vt:lpstr>Poppins SemiBold</vt:lpstr>
      <vt:lpstr>Poppins</vt:lpstr>
      <vt:lpstr>Lato</vt:lpstr>
      <vt:lpstr>Arial</vt:lpstr>
      <vt:lpstr>Poppins Medium</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yerram koushik</dc:creator>
  <cp:lastModifiedBy>yerram koushik</cp:lastModifiedBy>
  <cp:revision>8</cp:revision>
  <dcterms:modified xsi:type="dcterms:W3CDTF">2026-07-15T14:07:43Z</dcterms:modified>
</cp:coreProperties>
</file>